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6268389-F20B-476E-B747-A0A6B5B97EB9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30162DE-CE41-4FD1-B4E3-EFA51CD955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347B0AA-66F7-4719-A33C-7C9FF78354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8FD850C-C963-4B18-B8E0-5B5F5941DF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BA7C32B-1EB6-4FE7-9109-3B3B4FFCFD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81A876A-C5E9-420C-B278-951D304799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8EF6AA9-59DA-4F93-817D-5E967F7804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6A3834-D4C5-4AB2-9F64-B964DFA82D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82E14F6-1373-4CC7-82CD-D36A44F029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F47D5F4-CB45-45D6-9182-6AFA3915AB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AC555D-29AD-48A1-AD24-95354C0229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56F11C3-C88E-46F1-8924-8993A89805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1ACDADA-7261-4FC6-9AD3-0A051FCDEB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AC533B0-F7D4-4174-B1BC-EB79992BCA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6CB18A2-F431-4C2F-A525-167121208A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DD4B6B3-7465-48CB-8BC6-1D62831AB2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F66D4C2-FE5E-4FD0-AD0D-3FAE0A195A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9A6E7AE-7199-4C6C-B9ED-27437AA47E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6185197-85DF-419A-9B47-5492E9F68B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54A5A89-5DF2-4BC9-B13B-A8A67DE24A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00F51E-8F37-4EF9-8CC7-070B6B286D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EE772A4-EE43-448C-AC34-0FCC1E7EDB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3"/>
          <p:cNvSpPr/>
          <p:nvPr/>
        </p:nvSpPr>
        <p:spPr>
          <a:xfrm>
            <a:off x="548640" y="411480"/>
            <a:ext cx="7313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4"/>
          <p:cNvSpPr/>
          <p:nvPr/>
        </p:nvSpPr>
        <p:spPr>
          <a:xfrm>
            <a:off x="548640" y="760680"/>
            <a:ext cx="77709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Hybrid Security Framework Integrating Firewall And VPN Technologies</a:t>
            </a:r>
            <a:endParaRPr lang="en-IN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5"/>
          <p:cNvSpPr/>
          <p:nvPr/>
        </p:nvSpPr>
        <p:spPr>
          <a:xfrm>
            <a:off x="548640" y="1927080"/>
            <a:ext cx="777096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6"/>
          <p:cNvSpPr/>
          <p:nvPr/>
        </p:nvSpPr>
        <p:spPr>
          <a:xfrm>
            <a:off x="548640" y="2292840"/>
            <a:ext cx="3198960" cy="35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7"/>
          <p:cNvSpPr/>
          <p:nvPr/>
        </p:nvSpPr>
        <p:spPr>
          <a:xfrm>
            <a:off x="548640" y="2890080"/>
            <a:ext cx="82281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Register No: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243182101050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8"/>
          <p:cNvSpPr/>
          <p:nvPr/>
        </p:nvSpPr>
        <p:spPr>
          <a:xfrm>
            <a:off x="548640" y="3273480"/>
            <a:ext cx="82281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Department: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 Forensics and Information Security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9"/>
          <p:cNvSpPr/>
          <p:nvPr/>
        </p:nvSpPr>
        <p:spPr>
          <a:xfrm>
            <a:off x="548640" y="3620880"/>
            <a:ext cx="82281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Guide: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Prof. Marimuthu 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548640" y="3968640"/>
            <a:ext cx="82281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Institution: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Dr. M.G.R. Educational and Research Institute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548640" y="4316040"/>
            <a:ext cx="82281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Year: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2025–2026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7498080" y="2240280"/>
            <a:ext cx="11872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63"/>
          <p:cNvSpPr/>
          <p:nvPr/>
        </p:nvSpPr>
        <p:spPr>
          <a:xfrm>
            <a:off x="554760" y="2515320"/>
            <a:ext cx="82281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Name: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Senthil Nathan 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0" y="0"/>
            <a:ext cx="9142560" cy="95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457200" y="164520"/>
            <a:ext cx="82281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INTRODUCTION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274320" y="1097280"/>
            <a:ext cx="4204800" cy="17359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E0F2FE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511560" y="1188720"/>
            <a:ext cx="32904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A1628"/>
                </a:solidFill>
                <a:effectLst/>
                <a:uFillTx/>
                <a:latin typeface="Calibri"/>
                <a:ea typeface="Calibri"/>
              </a:rPr>
              <a:t>Evolving Threat Landscape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540000" y="1620000"/>
            <a:ext cx="3801960" cy="10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Remote work, cloud computing, and IoT have dramatically expanded attack surfaces, making traditional perimeter defenses insufficient.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4709160" y="1097280"/>
            <a:ext cx="4204800" cy="17359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E0F2FE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5054400" y="1188720"/>
            <a:ext cx="32904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A1628"/>
                </a:solidFill>
                <a:effectLst/>
                <a:uFillTx/>
                <a:latin typeface="Calibri"/>
                <a:ea typeface="Calibri"/>
              </a:rPr>
              <a:t>Fragmented Security Tools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5040000" y="1620000"/>
            <a:ext cx="3736800" cy="10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Administrators manage firewalls, VPN configs, user accounts, and monitoring as entirely separate concerns—creating configuration drift and audit gaps.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0"/>
          <p:cNvSpPr/>
          <p:nvPr/>
        </p:nvSpPr>
        <p:spPr>
          <a:xfrm>
            <a:off x="274320" y="3063240"/>
            <a:ext cx="4204800" cy="17359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E0F2FE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411480" y="3173040"/>
            <a:ext cx="5929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511560" y="3154680"/>
            <a:ext cx="32904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A1628"/>
                </a:solidFill>
                <a:effectLst/>
                <a:uFillTx/>
                <a:latin typeface="Calibri"/>
                <a:ea typeface="Calibri"/>
              </a:rPr>
              <a:t>SunduVault Solution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540000" y="3600000"/>
            <a:ext cx="3801960" cy="10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A unified PHP/Bootstrap platform integrating iptables firewall management and WireGuard VPN with RBAC, 2FA, IDS, and real-time monitoring.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4709160" y="3063240"/>
            <a:ext cx="4204800" cy="17359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E0F2FE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5018400" y="3154680"/>
            <a:ext cx="32904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A1628"/>
                </a:solidFill>
                <a:effectLst/>
                <a:uFillTx/>
                <a:latin typeface="Calibri"/>
                <a:ea typeface="Calibri"/>
              </a:rPr>
              <a:t>Key Results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7"/>
          <p:cNvSpPr/>
          <p:nvPr/>
        </p:nvSpPr>
        <p:spPr>
          <a:xfrm>
            <a:off x="5040000" y="3456000"/>
            <a:ext cx="3736800" cy="10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Reduces unauthorized access by 85%+, achieves sub-1.5ms VPN handshake latency, and processes firewall updates within 200ms.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1"/>
          <p:cNvSpPr/>
          <p:nvPr/>
        </p:nvSpPr>
        <p:spPr>
          <a:xfrm>
            <a:off x="548640" y="25596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6B6D4"/>
                </a:solidFill>
                <a:effectLst/>
                <a:uFillTx/>
                <a:latin typeface="Cambria"/>
                <a:ea typeface="Cambria"/>
              </a:rPr>
              <a:t>PROBLEM STATEMENT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"/>
          <p:cNvSpPr/>
          <p:nvPr/>
        </p:nvSpPr>
        <p:spPr>
          <a:xfrm>
            <a:off x="548640" y="804600"/>
            <a:ext cx="8045280" cy="35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502920" y="960120"/>
            <a:ext cx="8319600" cy="711720"/>
          </a:xfrm>
          <a:prstGeom prst="roundRect">
            <a:avLst>
              <a:gd name="adj" fmla="val 10256"/>
            </a:avLst>
          </a:prstGeom>
          <a:solidFill>
            <a:srgbClr val="0F2642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4"/>
          <p:cNvSpPr/>
          <p:nvPr/>
        </p:nvSpPr>
        <p:spPr>
          <a:xfrm>
            <a:off x="502920" y="960120"/>
            <a:ext cx="657000" cy="711720"/>
          </a:xfrm>
          <a:prstGeom prst="roundRect">
            <a:avLst>
              <a:gd name="adj" fmla="val 11111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5"/>
          <p:cNvSpPr/>
          <p:nvPr/>
        </p:nvSpPr>
        <p:spPr>
          <a:xfrm>
            <a:off x="502920" y="1124640"/>
            <a:ext cx="6570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1261800" y="1014840"/>
            <a:ext cx="18273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Configuration Drift: 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1261800" y="1289160"/>
            <a:ext cx="73137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DD3FC"/>
                </a:solidFill>
                <a:effectLst/>
                <a:uFillTx/>
                <a:latin typeface="Calibri"/>
                <a:ea typeface="Calibri"/>
              </a:rPr>
              <a:t>Firewall and VPN managed separately create windows of unprotected traffic and policy inconsistency.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8"/>
          <p:cNvSpPr/>
          <p:nvPr/>
        </p:nvSpPr>
        <p:spPr>
          <a:xfrm>
            <a:off x="502920" y="1764720"/>
            <a:ext cx="8319600" cy="711720"/>
          </a:xfrm>
          <a:prstGeom prst="roundRect">
            <a:avLst>
              <a:gd name="adj" fmla="val 10256"/>
            </a:avLst>
          </a:prstGeom>
          <a:solidFill>
            <a:srgbClr val="0F2642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9"/>
          <p:cNvSpPr/>
          <p:nvPr/>
        </p:nvSpPr>
        <p:spPr>
          <a:xfrm>
            <a:off x="502920" y="1764720"/>
            <a:ext cx="657000" cy="711720"/>
          </a:xfrm>
          <a:prstGeom prst="roundRect">
            <a:avLst>
              <a:gd name="adj" fmla="val 11111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502920" y="1929240"/>
            <a:ext cx="6570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1261800" y="1819800"/>
            <a:ext cx="18273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Delayed Incident Response: 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1261800" y="2094120"/>
            <a:ext cx="73137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DD3FC"/>
                </a:solidFill>
                <a:effectLst/>
                <a:uFillTx/>
                <a:latin typeface="Calibri"/>
                <a:ea typeface="Calibri"/>
              </a:rPr>
              <a:t>Lack of unified alerting across disconnected tools slows detection and mitigation of intrusions.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3"/>
          <p:cNvSpPr/>
          <p:nvPr/>
        </p:nvSpPr>
        <p:spPr>
          <a:xfrm>
            <a:off x="502920" y="2569320"/>
            <a:ext cx="8319600" cy="711720"/>
          </a:xfrm>
          <a:prstGeom prst="roundRect">
            <a:avLst>
              <a:gd name="adj" fmla="val 10256"/>
            </a:avLst>
          </a:prstGeom>
          <a:solidFill>
            <a:srgbClr val="0F2642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4"/>
          <p:cNvSpPr/>
          <p:nvPr/>
        </p:nvSpPr>
        <p:spPr>
          <a:xfrm>
            <a:off x="502920" y="2569320"/>
            <a:ext cx="657000" cy="711720"/>
          </a:xfrm>
          <a:prstGeom prst="roundRect">
            <a:avLst>
              <a:gd name="adj" fmla="val 11111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502920" y="2734200"/>
            <a:ext cx="6570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1261800" y="2624400"/>
            <a:ext cx="18273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Privilege Escalation Risk: 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7"/>
          <p:cNvSpPr/>
          <p:nvPr/>
        </p:nvSpPr>
        <p:spPr>
          <a:xfrm>
            <a:off x="1261800" y="2898720"/>
            <a:ext cx="73137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DD3FC"/>
                </a:solidFill>
                <a:effectLst/>
                <a:uFillTx/>
                <a:latin typeface="Calibri"/>
                <a:ea typeface="Calibri"/>
              </a:rPr>
              <a:t>Inconsistent RBAC enforcement across disparate systems allows unauthorized access escalation.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8"/>
          <p:cNvSpPr/>
          <p:nvPr/>
        </p:nvSpPr>
        <p:spPr>
          <a:xfrm>
            <a:off x="502920" y="3374280"/>
            <a:ext cx="8319600" cy="711720"/>
          </a:xfrm>
          <a:prstGeom prst="roundRect">
            <a:avLst>
              <a:gd name="adj" fmla="val 10256"/>
            </a:avLst>
          </a:prstGeom>
          <a:solidFill>
            <a:srgbClr val="0F2642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9"/>
          <p:cNvSpPr/>
          <p:nvPr/>
        </p:nvSpPr>
        <p:spPr>
          <a:xfrm>
            <a:off x="502920" y="3374280"/>
            <a:ext cx="657000" cy="711720"/>
          </a:xfrm>
          <a:prstGeom prst="roundRect">
            <a:avLst>
              <a:gd name="adj" fmla="val 11111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0"/>
          <p:cNvSpPr/>
          <p:nvPr/>
        </p:nvSpPr>
        <p:spPr>
          <a:xfrm>
            <a:off x="502920" y="3538800"/>
            <a:ext cx="6570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1"/>
          <p:cNvSpPr/>
          <p:nvPr/>
        </p:nvSpPr>
        <p:spPr>
          <a:xfrm>
            <a:off x="1261800" y="3429000"/>
            <a:ext cx="18273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 Audit Logging: 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2"/>
          <p:cNvSpPr/>
          <p:nvPr/>
        </p:nvSpPr>
        <p:spPr>
          <a:xfrm>
            <a:off x="1261800" y="3703320"/>
            <a:ext cx="73137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DD3FC"/>
                </a:solidFill>
                <a:effectLst/>
                <a:uFillTx/>
                <a:latin typeface="Calibri"/>
                <a:ea typeface="Calibri"/>
              </a:rPr>
              <a:t>Logs fragmented across multiple system files hinder forensic investigation and compliance.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3"/>
          <p:cNvSpPr/>
          <p:nvPr/>
        </p:nvSpPr>
        <p:spPr>
          <a:xfrm>
            <a:off x="502920" y="4178880"/>
            <a:ext cx="8319600" cy="711720"/>
          </a:xfrm>
          <a:prstGeom prst="roundRect">
            <a:avLst>
              <a:gd name="adj" fmla="val 10256"/>
            </a:avLst>
          </a:prstGeom>
          <a:solidFill>
            <a:srgbClr val="0F2642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4"/>
          <p:cNvSpPr/>
          <p:nvPr/>
        </p:nvSpPr>
        <p:spPr>
          <a:xfrm>
            <a:off x="502920" y="4178880"/>
            <a:ext cx="657000" cy="711720"/>
          </a:xfrm>
          <a:prstGeom prst="roundRect">
            <a:avLst>
              <a:gd name="adj" fmla="val 11111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5"/>
          <p:cNvSpPr/>
          <p:nvPr/>
        </p:nvSpPr>
        <p:spPr>
          <a:xfrm>
            <a:off x="502920" y="4343400"/>
            <a:ext cx="6570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05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6"/>
          <p:cNvSpPr/>
          <p:nvPr/>
        </p:nvSpPr>
        <p:spPr>
          <a:xfrm>
            <a:off x="1261800" y="4233600"/>
            <a:ext cx="18273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Administrative Overhead: 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7"/>
          <p:cNvSpPr/>
          <p:nvPr/>
        </p:nvSpPr>
        <p:spPr>
          <a:xfrm>
            <a:off x="1261800" y="4507920"/>
            <a:ext cx="73137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DD3FC"/>
                </a:solidFill>
                <a:effectLst/>
                <a:uFillTx/>
                <a:latin typeface="Calibri"/>
                <a:ea typeface="Calibri"/>
              </a:rPr>
              <a:t>Manual CLI-based peer config and rule editing scales poorly and introduces human error.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0"/>
            <a:ext cx="9142560" cy="95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57200" y="164520"/>
            <a:ext cx="82281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OBJECTIVES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255960" y="1078920"/>
            <a:ext cx="4204800" cy="8672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E0F2FE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3"/>
          <p:cNvSpPr/>
          <p:nvPr/>
        </p:nvSpPr>
        <p:spPr>
          <a:xfrm>
            <a:off x="393120" y="1261800"/>
            <a:ext cx="474120" cy="4741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393120" y="1261800"/>
            <a:ext cx="47412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969120" y="1170360"/>
            <a:ext cx="336348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Design &amp; implement an integrated firewall + VPN framework under a unified administrative interface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6"/>
          <p:cNvSpPr/>
          <p:nvPr/>
        </p:nvSpPr>
        <p:spPr>
          <a:xfrm>
            <a:off x="255960" y="2066400"/>
            <a:ext cx="4204800" cy="8672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E0F2FE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393120" y="2249280"/>
            <a:ext cx="474120" cy="4741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393120" y="2249280"/>
            <a:ext cx="47412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969120" y="2157840"/>
            <a:ext cx="336348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Implement WireGuard peer management: key generation, IP allocation, config provisioning, and QR code generation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255960" y="3054240"/>
            <a:ext cx="4204800" cy="8672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E0F2FE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1"/>
          <p:cNvSpPr/>
          <p:nvPr/>
        </p:nvSpPr>
        <p:spPr>
          <a:xfrm>
            <a:off x="393120" y="3237120"/>
            <a:ext cx="474120" cy="4741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393120" y="3237120"/>
            <a:ext cx="47412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3"/>
          <p:cNvSpPr/>
          <p:nvPr/>
        </p:nvSpPr>
        <p:spPr>
          <a:xfrm>
            <a:off x="969120" y="3145680"/>
            <a:ext cx="336348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Provide dynamic iptables firewall management with real-time rule insertion, deletion, and monitoring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4"/>
          <p:cNvSpPr/>
          <p:nvPr/>
        </p:nvSpPr>
        <p:spPr>
          <a:xfrm>
            <a:off x="255960" y="4041720"/>
            <a:ext cx="4204800" cy="8672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E0F2FE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5"/>
          <p:cNvSpPr/>
          <p:nvPr/>
        </p:nvSpPr>
        <p:spPr>
          <a:xfrm>
            <a:off x="393120" y="4224600"/>
            <a:ext cx="474120" cy="4741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6"/>
          <p:cNvSpPr/>
          <p:nvPr/>
        </p:nvSpPr>
        <p:spPr>
          <a:xfrm>
            <a:off x="393120" y="4224600"/>
            <a:ext cx="47412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7"/>
          <p:cNvSpPr/>
          <p:nvPr/>
        </p:nvSpPr>
        <p:spPr>
          <a:xfrm>
            <a:off x="969120" y="4133160"/>
            <a:ext cx="336348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Enforce Role-Based Access Control (RBAC) separating administrator and user privileges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8"/>
          <p:cNvSpPr/>
          <p:nvPr/>
        </p:nvSpPr>
        <p:spPr>
          <a:xfrm>
            <a:off x="4681800" y="1078920"/>
            <a:ext cx="4204800" cy="8672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E0F2FE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9"/>
          <p:cNvSpPr/>
          <p:nvPr/>
        </p:nvSpPr>
        <p:spPr>
          <a:xfrm>
            <a:off x="4818960" y="1261800"/>
            <a:ext cx="474120" cy="4741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0"/>
          <p:cNvSpPr/>
          <p:nvPr/>
        </p:nvSpPr>
        <p:spPr>
          <a:xfrm>
            <a:off x="4818960" y="1261800"/>
            <a:ext cx="47412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1"/>
          <p:cNvSpPr/>
          <p:nvPr/>
        </p:nvSpPr>
        <p:spPr>
          <a:xfrm>
            <a:off x="5394960" y="1170360"/>
            <a:ext cx="336348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Integrate Two-Factor Authentication (2FA/TOTP) for all administrative access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2"/>
          <p:cNvSpPr/>
          <p:nvPr/>
        </p:nvSpPr>
        <p:spPr>
          <a:xfrm>
            <a:off x="4681800" y="2066400"/>
            <a:ext cx="4204800" cy="8672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E0F2FE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3"/>
          <p:cNvSpPr/>
          <p:nvPr/>
        </p:nvSpPr>
        <p:spPr>
          <a:xfrm>
            <a:off x="4818960" y="2249280"/>
            <a:ext cx="474120" cy="4741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4"/>
          <p:cNvSpPr/>
          <p:nvPr/>
        </p:nvSpPr>
        <p:spPr>
          <a:xfrm>
            <a:off x="4818960" y="2249280"/>
            <a:ext cx="47412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6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5"/>
          <p:cNvSpPr/>
          <p:nvPr/>
        </p:nvSpPr>
        <p:spPr>
          <a:xfrm>
            <a:off x="5394960" y="2157840"/>
            <a:ext cx="336348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Build an IDS module for anomalous traffic detection and automated threat blocking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6"/>
          <p:cNvSpPr/>
          <p:nvPr/>
        </p:nvSpPr>
        <p:spPr>
          <a:xfrm>
            <a:off x="4681800" y="3054240"/>
            <a:ext cx="4204800" cy="8672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E0F2FE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7"/>
          <p:cNvSpPr/>
          <p:nvPr/>
        </p:nvSpPr>
        <p:spPr>
          <a:xfrm>
            <a:off x="4818960" y="3237120"/>
            <a:ext cx="474120" cy="4741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8"/>
          <p:cNvSpPr/>
          <p:nvPr/>
        </p:nvSpPr>
        <p:spPr>
          <a:xfrm>
            <a:off x="4818960" y="3237120"/>
            <a:ext cx="47412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7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9"/>
          <p:cNvSpPr/>
          <p:nvPr/>
        </p:nvSpPr>
        <p:spPr>
          <a:xfrm>
            <a:off x="5394960" y="3145680"/>
            <a:ext cx="336348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Develop a real-time monitoring dashboard with traffic metrics and peer connectivity status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30"/>
          <p:cNvSpPr/>
          <p:nvPr/>
        </p:nvSpPr>
        <p:spPr>
          <a:xfrm>
            <a:off x="4681800" y="4041720"/>
            <a:ext cx="4204800" cy="8672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E0F2FE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31"/>
          <p:cNvSpPr/>
          <p:nvPr/>
        </p:nvSpPr>
        <p:spPr>
          <a:xfrm>
            <a:off x="4818960" y="4224600"/>
            <a:ext cx="474120" cy="4741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2"/>
          <p:cNvSpPr/>
          <p:nvPr/>
        </p:nvSpPr>
        <p:spPr>
          <a:xfrm>
            <a:off x="4818960" y="4224600"/>
            <a:ext cx="47412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8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3"/>
          <p:cNvSpPr/>
          <p:nvPr/>
        </p:nvSpPr>
        <p:spPr>
          <a:xfrm>
            <a:off x="5394960" y="4133160"/>
            <a:ext cx="336348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Maintain comprehensive audit logs for all security-relevant events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0" y="0"/>
            <a:ext cx="9142560" cy="9586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57200" y="164520"/>
            <a:ext cx="82281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LITERATURE REVIEW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109800" y="1005840"/>
            <a:ext cx="8922960" cy="364320"/>
          </a:xfrm>
          <a:prstGeom prst="rect">
            <a:avLst/>
          </a:prstGeom>
          <a:solidFill>
            <a:srgbClr val="1E3A5F"/>
          </a:solidFill>
          <a:ln w="635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210240" y="1060560"/>
            <a:ext cx="27784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Title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3163680" y="1060560"/>
            <a:ext cx="4924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Year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3840480" y="1060560"/>
            <a:ext cx="24127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Key Contribution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6428160" y="1060560"/>
            <a:ext cx="24127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Relevance to SunduVault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7"/>
          <p:cNvSpPr/>
          <p:nvPr/>
        </p:nvSpPr>
        <p:spPr>
          <a:xfrm>
            <a:off x="109800" y="1389960"/>
            <a:ext cx="8922960" cy="565560"/>
          </a:xfrm>
          <a:prstGeom prst="rect">
            <a:avLst/>
          </a:prstGeom>
          <a:solidFill>
            <a:srgbClr val="0D2137"/>
          </a:solidFill>
          <a:ln w="635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210240" y="1444680"/>
            <a:ext cx="2778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Novel HSF with Vshield Firewall for Cloud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3163680" y="1444680"/>
            <a:ext cx="492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2023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3840480" y="1444680"/>
            <a:ext cx="2412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RL-based packet matching; 10% latency reduction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6428160" y="1444680"/>
            <a:ext cx="2412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Validates hybrid firewall+VPN approach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2"/>
          <p:cNvSpPr/>
          <p:nvPr/>
        </p:nvSpPr>
        <p:spPr>
          <a:xfrm>
            <a:off x="109800" y="1993320"/>
            <a:ext cx="8922960" cy="565560"/>
          </a:xfrm>
          <a:prstGeom prst="rect">
            <a:avLst/>
          </a:prstGeom>
          <a:solidFill>
            <a:srgbClr val="0F2642"/>
          </a:solidFill>
          <a:ln w="635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3"/>
          <p:cNvSpPr/>
          <p:nvPr/>
        </p:nvSpPr>
        <p:spPr>
          <a:xfrm>
            <a:off x="210240" y="2048400"/>
            <a:ext cx="2778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WireGuard: Next-Gen Kernel Network Tunnel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3163680" y="2048400"/>
            <a:ext cx="492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2020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3840480" y="2048400"/>
            <a:ext cx="2412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Formal security proof; &lt;4000 lines codebase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6"/>
          <p:cNvSpPr/>
          <p:nvPr/>
        </p:nvSpPr>
        <p:spPr>
          <a:xfrm>
            <a:off x="6428160" y="2048400"/>
            <a:ext cx="2412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Foundation for WireGuard adoption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7"/>
          <p:cNvSpPr/>
          <p:nvPr/>
        </p:nvSpPr>
        <p:spPr>
          <a:xfrm>
            <a:off x="109800" y="2597040"/>
            <a:ext cx="8922960" cy="565560"/>
          </a:xfrm>
          <a:prstGeom prst="rect">
            <a:avLst/>
          </a:prstGeom>
          <a:solidFill>
            <a:srgbClr val="0D2137"/>
          </a:solidFill>
          <a:ln w="635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8"/>
          <p:cNvSpPr/>
          <p:nvPr/>
        </p:nvSpPr>
        <p:spPr>
          <a:xfrm>
            <a:off x="210240" y="2651760"/>
            <a:ext cx="2778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AES-256 &amp; SHA-256 in Network Security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9"/>
          <p:cNvSpPr/>
          <p:nvPr/>
        </p:nvSpPr>
        <p:spPr>
          <a:xfrm>
            <a:off x="3163680" y="2651760"/>
            <a:ext cx="492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2022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0"/>
          <p:cNvSpPr/>
          <p:nvPr/>
        </p:nvSpPr>
        <p:spPr>
          <a:xfrm>
            <a:off x="3840480" y="2651760"/>
            <a:ext cx="2412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AES-NI at 10 Gbps with negligible overhead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1"/>
          <p:cNvSpPr/>
          <p:nvPr/>
        </p:nvSpPr>
        <p:spPr>
          <a:xfrm>
            <a:off x="6428160" y="2651760"/>
            <a:ext cx="2412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Justifies AES-256 &amp; HMAC-SHA256 stack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2"/>
          <p:cNvSpPr/>
          <p:nvPr/>
        </p:nvSpPr>
        <p:spPr>
          <a:xfrm>
            <a:off x="109800" y="3200400"/>
            <a:ext cx="8922960" cy="565560"/>
          </a:xfrm>
          <a:prstGeom prst="rect">
            <a:avLst/>
          </a:prstGeom>
          <a:solidFill>
            <a:srgbClr val="0F2642"/>
          </a:solidFill>
          <a:ln w="635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3"/>
          <p:cNvSpPr/>
          <p:nvPr/>
        </p:nvSpPr>
        <p:spPr>
          <a:xfrm>
            <a:off x="210240" y="3255120"/>
            <a:ext cx="2778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RBAC with Multi-Factor Auth for Web Platforms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4"/>
          <p:cNvSpPr/>
          <p:nvPr/>
        </p:nvSpPr>
        <p:spPr>
          <a:xfrm>
            <a:off x="3163680" y="3255120"/>
            <a:ext cx="492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2023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5"/>
          <p:cNvSpPr/>
          <p:nvPr/>
        </p:nvSpPr>
        <p:spPr>
          <a:xfrm>
            <a:off x="3840480" y="3255120"/>
            <a:ext cx="2412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TOTP+RBAC; auth latency &lt;120ms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6"/>
          <p:cNvSpPr/>
          <p:nvPr/>
        </p:nvSpPr>
        <p:spPr>
          <a:xfrm>
            <a:off x="6428160" y="3255120"/>
            <a:ext cx="2412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Informs 2FA &amp; RBAC implementation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7"/>
          <p:cNvSpPr/>
          <p:nvPr/>
        </p:nvSpPr>
        <p:spPr>
          <a:xfrm>
            <a:off x="109800" y="3803760"/>
            <a:ext cx="8922960" cy="565560"/>
          </a:xfrm>
          <a:prstGeom prst="rect">
            <a:avLst/>
          </a:prstGeom>
          <a:solidFill>
            <a:srgbClr val="0D2137"/>
          </a:solidFill>
          <a:ln w="635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8"/>
          <p:cNvSpPr/>
          <p:nvPr/>
        </p:nvSpPr>
        <p:spPr>
          <a:xfrm>
            <a:off x="210240" y="3858840"/>
            <a:ext cx="2778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Hybrid IDS: Signature + Anomaly Detection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9"/>
          <p:cNvSpPr/>
          <p:nvPr/>
        </p:nvSpPr>
        <p:spPr>
          <a:xfrm>
            <a:off x="3163680" y="3858840"/>
            <a:ext cx="492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2021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0"/>
          <p:cNvSpPr/>
          <p:nvPr/>
        </p:nvSpPr>
        <p:spPr>
          <a:xfrm>
            <a:off x="3840480" y="3858840"/>
            <a:ext cx="2412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96.8% detection rate, 1.2% false positive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1"/>
          <p:cNvSpPr/>
          <p:nvPr/>
        </p:nvSpPr>
        <p:spPr>
          <a:xfrm>
            <a:off x="6428160" y="3858840"/>
            <a:ext cx="2412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IDS module design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32"/>
          <p:cNvSpPr/>
          <p:nvPr/>
        </p:nvSpPr>
        <p:spPr>
          <a:xfrm>
            <a:off x="109800" y="4407480"/>
            <a:ext cx="8922960" cy="565560"/>
          </a:xfrm>
          <a:prstGeom prst="rect">
            <a:avLst/>
          </a:prstGeom>
          <a:solidFill>
            <a:srgbClr val="0F2642"/>
          </a:solidFill>
          <a:ln w="635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3"/>
          <p:cNvSpPr/>
          <p:nvPr/>
        </p:nvSpPr>
        <p:spPr>
          <a:xfrm>
            <a:off x="210240" y="4462200"/>
            <a:ext cx="2778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UTM: Firewall, VPN, IDS &amp; RBAC (Software-Def.)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4"/>
          <p:cNvSpPr/>
          <p:nvPr/>
        </p:nvSpPr>
        <p:spPr>
          <a:xfrm>
            <a:off x="3163680" y="4462200"/>
            <a:ext cx="492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2023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5"/>
          <p:cNvSpPr/>
          <p:nvPr/>
        </p:nvSpPr>
        <p:spPr>
          <a:xfrm>
            <a:off x="3840480" y="4462200"/>
            <a:ext cx="2412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&lt;5ms overhead vs unprotected baseline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6"/>
          <p:cNvSpPr/>
          <p:nvPr/>
        </p:nvSpPr>
        <p:spPr>
          <a:xfrm>
            <a:off x="6428160" y="4462200"/>
            <a:ext cx="2412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Direct architecture analogue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0"/>
          <p:cNvSpPr/>
          <p:nvPr/>
        </p:nvSpPr>
        <p:spPr>
          <a:xfrm>
            <a:off x="0" y="0"/>
            <a:ext cx="9142560" cy="95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457200" y="164520"/>
            <a:ext cx="82281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EXISTING vs PROPOSED SYSTEM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2"/>
          <p:cNvSpPr/>
          <p:nvPr/>
        </p:nvSpPr>
        <p:spPr>
          <a:xfrm>
            <a:off x="255960" y="1051560"/>
            <a:ext cx="4159080" cy="3820680"/>
          </a:xfrm>
          <a:prstGeom prst="roundRect">
            <a:avLst>
              <a:gd name="adj" fmla="val 2871"/>
            </a:avLst>
          </a:prstGeom>
          <a:solidFill>
            <a:srgbClr val="FEF2F2"/>
          </a:solidFill>
          <a:ln w="19050">
            <a:solidFill>
              <a:srgbClr val="FEC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"/>
          <p:cNvSpPr/>
          <p:nvPr/>
        </p:nvSpPr>
        <p:spPr>
          <a:xfrm>
            <a:off x="365760" y="1115640"/>
            <a:ext cx="3930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 EXISTING SYSTEM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4"/>
          <p:cNvSpPr/>
          <p:nvPr/>
        </p:nvSpPr>
        <p:spPr>
          <a:xfrm>
            <a:off x="411480" y="1572840"/>
            <a:ext cx="38390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✕  </a:t>
            </a:r>
            <a:r>
              <a:rPr lang="en-US" sz="11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No centralized interface for firewall + VPN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5"/>
          <p:cNvSpPr/>
          <p:nvPr/>
        </p:nvSpPr>
        <p:spPr>
          <a:xfrm>
            <a:off x="411480" y="2020680"/>
            <a:ext cx="38390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✕  </a:t>
            </a:r>
            <a:r>
              <a:rPr lang="en-US" sz="11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Manual peer configuration via command-line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6"/>
          <p:cNvSpPr/>
          <p:nvPr/>
        </p:nvSpPr>
        <p:spPr>
          <a:xfrm>
            <a:off x="411480" y="2468880"/>
            <a:ext cx="38390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✕  </a:t>
            </a:r>
            <a:r>
              <a:rPr lang="en-US" sz="11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No real-time visibility or monitoring dashboard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7"/>
          <p:cNvSpPr/>
          <p:nvPr/>
        </p:nvSpPr>
        <p:spPr>
          <a:xfrm>
            <a:off x="411480" y="2917080"/>
            <a:ext cx="38390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✕  </a:t>
            </a:r>
            <a:r>
              <a:rPr lang="en-US" sz="11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User self-service impossible; all admin intervention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8"/>
          <p:cNvSpPr/>
          <p:nvPr/>
        </p:nvSpPr>
        <p:spPr>
          <a:xfrm>
            <a:off x="411480" y="3364920"/>
            <a:ext cx="38390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✕  </a:t>
            </a:r>
            <a:r>
              <a:rPr lang="en-US" sz="11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Logs fragmented across multiple system files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411480" y="3813120"/>
            <a:ext cx="38390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✕  </a:t>
            </a:r>
            <a:r>
              <a:rPr lang="en-US" sz="11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Manual IP assignment — risk of conflicts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411480" y="4260960"/>
            <a:ext cx="38390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✕  </a:t>
            </a:r>
            <a:r>
              <a:rPr lang="en-US" sz="11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Poor scalability as peer count grows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1"/>
          <p:cNvSpPr/>
          <p:nvPr/>
        </p:nvSpPr>
        <p:spPr>
          <a:xfrm>
            <a:off x="4727520" y="1051560"/>
            <a:ext cx="4159080" cy="3820680"/>
          </a:xfrm>
          <a:prstGeom prst="roundRect">
            <a:avLst>
              <a:gd name="adj" fmla="val 2871"/>
            </a:avLst>
          </a:prstGeom>
          <a:solidFill>
            <a:srgbClr val="F0FDF4"/>
          </a:solidFill>
          <a:ln w="19050">
            <a:solidFill>
              <a:srgbClr val="BBF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2"/>
          <p:cNvSpPr/>
          <p:nvPr/>
        </p:nvSpPr>
        <p:spPr>
          <a:xfrm>
            <a:off x="4837320" y="1115640"/>
            <a:ext cx="3930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 PROPOSED SYSTEM (SunduVault)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3"/>
          <p:cNvSpPr/>
          <p:nvPr/>
        </p:nvSpPr>
        <p:spPr>
          <a:xfrm>
            <a:off x="4864680" y="1572840"/>
            <a:ext cx="38390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1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Unified PHP/Bootstrap admin panel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4"/>
          <p:cNvSpPr/>
          <p:nvPr/>
        </p:nvSpPr>
        <p:spPr>
          <a:xfrm>
            <a:off x="4864680" y="2020680"/>
            <a:ext cx="38390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1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RESTful API for all management functions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5"/>
          <p:cNvSpPr/>
          <p:nvPr/>
        </p:nvSpPr>
        <p:spPr>
          <a:xfrm>
            <a:off x="4864680" y="2468880"/>
            <a:ext cx="38390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1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Automated IP allocation via MongoDB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6"/>
          <p:cNvSpPr/>
          <p:nvPr/>
        </p:nvSpPr>
        <p:spPr>
          <a:xfrm>
            <a:off x="4864680" y="2917080"/>
            <a:ext cx="38390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1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Real-time peer status polling every 5 sec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7"/>
          <p:cNvSpPr/>
          <p:nvPr/>
        </p:nvSpPr>
        <p:spPr>
          <a:xfrm>
            <a:off x="4864680" y="3364920"/>
            <a:ext cx="38390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1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WireGuard config &amp; QR code provisioning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8"/>
          <p:cNvSpPr/>
          <p:nvPr/>
        </p:nvSpPr>
        <p:spPr>
          <a:xfrm>
            <a:off x="4864680" y="3813120"/>
            <a:ext cx="38390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1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RBAC + 2FA for all accounts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9"/>
          <p:cNvSpPr/>
          <p:nvPr/>
        </p:nvSpPr>
        <p:spPr>
          <a:xfrm>
            <a:off x="4864680" y="4260960"/>
            <a:ext cx="38390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1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Centralized audit logging for all events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0" y="0"/>
            <a:ext cx="9142560" cy="821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457200" y="13716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SYSTEM ARCHITECTURE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"/>
          <p:cNvSpPr/>
          <p:nvPr/>
        </p:nvSpPr>
        <p:spPr>
          <a:xfrm>
            <a:off x="201240" y="932760"/>
            <a:ext cx="2741760" cy="3930480"/>
          </a:xfrm>
          <a:prstGeom prst="roundRect">
            <a:avLst>
              <a:gd name="adj" fmla="val 5000"/>
            </a:avLst>
          </a:prstGeom>
          <a:solidFill>
            <a:srgbClr val="0E7490">
              <a:alpha val="80000"/>
            </a:srgbClr>
          </a:solidFill>
          <a:ln w="19050">
            <a:solidFill>
              <a:srgbClr val="06B6D4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"/>
          <p:cNvSpPr/>
          <p:nvPr/>
        </p:nvSpPr>
        <p:spPr>
          <a:xfrm>
            <a:off x="292680" y="1005840"/>
            <a:ext cx="255888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ambria"/>
                <a:ea typeface="Cambria"/>
              </a:rPr>
              <a:t>PRESENTATION TIER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4"/>
          <p:cNvSpPr/>
          <p:nvPr/>
        </p:nvSpPr>
        <p:spPr>
          <a:xfrm>
            <a:off x="384120" y="1481400"/>
            <a:ext cx="2376000" cy="25920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5"/>
          <p:cNvSpPr/>
          <p:nvPr/>
        </p:nvSpPr>
        <p:spPr>
          <a:xfrm>
            <a:off x="365760" y="1600200"/>
            <a:ext cx="2412720" cy="528840"/>
          </a:xfrm>
          <a:prstGeom prst="roundRect">
            <a:avLst>
              <a:gd name="adj" fmla="val 12069"/>
            </a:avLst>
          </a:prstGeom>
          <a:solidFill>
            <a:srgbClr val="0A1628">
              <a:alpha val="70000"/>
            </a:srgbClr>
          </a:solidFill>
          <a:ln w="6350">
            <a:solidFill>
              <a:srgbClr val="7DD3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402480" y="1645920"/>
            <a:ext cx="233928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Bootstrap Admin Dashboard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7"/>
          <p:cNvSpPr/>
          <p:nvPr/>
        </p:nvSpPr>
        <p:spPr>
          <a:xfrm>
            <a:off x="365760" y="2221920"/>
            <a:ext cx="2412720" cy="528840"/>
          </a:xfrm>
          <a:prstGeom prst="roundRect">
            <a:avLst>
              <a:gd name="adj" fmla="val 12069"/>
            </a:avLst>
          </a:prstGeom>
          <a:solidFill>
            <a:srgbClr val="0A1628">
              <a:alpha val="70000"/>
            </a:srgbClr>
          </a:solidFill>
          <a:ln w="6350">
            <a:solidFill>
              <a:srgbClr val="7DD3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8"/>
          <p:cNvSpPr/>
          <p:nvPr/>
        </p:nvSpPr>
        <p:spPr>
          <a:xfrm>
            <a:off x="402480" y="2267640"/>
            <a:ext cx="233928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 Self-Service Portal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9"/>
          <p:cNvSpPr/>
          <p:nvPr/>
        </p:nvSpPr>
        <p:spPr>
          <a:xfrm>
            <a:off x="365760" y="2843640"/>
            <a:ext cx="2412720" cy="528840"/>
          </a:xfrm>
          <a:prstGeom prst="roundRect">
            <a:avLst>
              <a:gd name="adj" fmla="val 12069"/>
            </a:avLst>
          </a:prstGeom>
          <a:solidFill>
            <a:srgbClr val="0A1628">
              <a:alpha val="70000"/>
            </a:srgbClr>
          </a:solidFill>
          <a:ln w="6350">
            <a:solidFill>
              <a:srgbClr val="7DD3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0"/>
          <p:cNvSpPr/>
          <p:nvPr/>
        </p:nvSpPr>
        <p:spPr>
          <a:xfrm>
            <a:off x="402480" y="2889360"/>
            <a:ext cx="233928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REST API Endpoints (JWT)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1"/>
          <p:cNvSpPr/>
          <p:nvPr/>
        </p:nvSpPr>
        <p:spPr>
          <a:xfrm>
            <a:off x="2944080" y="2907720"/>
            <a:ext cx="237960" cy="360"/>
          </a:xfrm>
          <a:prstGeom prst="line">
            <a:avLst/>
          </a:prstGeom>
          <a:ln w="254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2"/>
          <p:cNvSpPr/>
          <p:nvPr/>
        </p:nvSpPr>
        <p:spPr>
          <a:xfrm>
            <a:off x="3173040" y="932760"/>
            <a:ext cx="2741760" cy="3930480"/>
          </a:xfrm>
          <a:prstGeom prst="roundRect">
            <a:avLst>
              <a:gd name="adj" fmla="val 5000"/>
            </a:avLst>
          </a:prstGeom>
          <a:solidFill>
            <a:srgbClr val="0F5A82">
              <a:alpha val="80000"/>
            </a:srgbClr>
          </a:solidFill>
          <a:ln w="19050">
            <a:solidFill>
              <a:srgbClr val="06B6D4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3"/>
          <p:cNvSpPr/>
          <p:nvPr/>
        </p:nvSpPr>
        <p:spPr>
          <a:xfrm>
            <a:off x="3264480" y="1005840"/>
            <a:ext cx="255888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ambria"/>
                <a:ea typeface="Cambria"/>
              </a:rPr>
              <a:t>APPLICATION LOGIC TIER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4"/>
          <p:cNvSpPr/>
          <p:nvPr/>
        </p:nvSpPr>
        <p:spPr>
          <a:xfrm>
            <a:off x="3355920" y="1481400"/>
            <a:ext cx="2376000" cy="25920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5"/>
          <p:cNvSpPr/>
          <p:nvPr/>
        </p:nvSpPr>
        <p:spPr>
          <a:xfrm>
            <a:off x="3337560" y="1600200"/>
            <a:ext cx="2412720" cy="528840"/>
          </a:xfrm>
          <a:prstGeom prst="roundRect">
            <a:avLst>
              <a:gd name="adj" fmla="val 12069"/>
            </a:avLst>
          </a:prstGeom>
          <a:solidFill>
            <a:srgbClr val="0A1628">
              <a:alpha val="70000"/>
            </a:srgbClr>
          </a:solidFill>
          <a:ln w="6350">
            <a:solidFill>
              <a:srgbClr val="7DD3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6"/>
          <p:cNvSpPr/>
          <p:nvPr/>
        </p:nvSpPr>
        <p:spPr>
          <a:xfrm>
            <a:off x="3374280" y="1645920"/>
            <a:ext cx="233928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Auth Module (OAuth 2.0 + OTP)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7"/>
          <p:cNvSpPr/>
          <p:nvPr/>
        </p:nvSpPr>
        <p:spPr>
          <a:xfrm>
            <a:off x="3337560" y="2221920"/>
            <a:ext cx="2412720" cy="528840"/>
          </a:xfrm>
          <a:prstGeom prst="roundRect">
            <a:avLst>
              <a:gd name="adj" fmla="val 12069"/>
            </a:avLst>
          </a:prstGeom>
          <a:solidFill>
            <a:srgbClr val="0A1628">
              <a:alpha val="70000"/>
            </a:srgbClr>
          </a:solidFill>
          <a:ln w="6350">
            <a:solidFill>
              <a:srgbClr val="7DD3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8"/>
          <p:cNvSpPr/>
          <p:nvPr/>
        </p:nvSpPr>
        <p:spPr>
          <a:xfrm>
            <a:off x="3374280" y="2267640"/>
            <a:ext cx="233928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WireGuard Manager (wg CLI)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9"/>
          <p:cNvSpPr/>
          <p:nvPr/>
        </p:nvSpPr>
        <p:spPr>
          <a:xfrm>
            <a:off x="3337560" y="2843640"/>
            <a:ext cx="2412720" cy="528840"/>
          </a:xfrm>
          <a:prstGeom prst="roundRect">
            <a:avLst>
              <a:gd name="adj" fmla="val 12069"/>
            </a:avLst>
          </a:prstGeom>
          <a:solidFill>
            <a:srgbClr val="0A1628">
              <a:alpha val="70000"/>
            </a:srgbClr>
          </a:solidFill>
          <a:ln w="6350">
            <a:solidFill>
              <a:srgbClr val="7DD3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0"/>
          <p:cNvSpPr/>
          <p:nvPr/>
        </p:nvSpPr>
        <p:spPr>
          <a:xfrm>
            <a:off x="3374280" y="2889360"/>
            <a:ext cx="233928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Firewall Manager (iptables)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1"/>
          <p:cNvSpPr/>
          <p:nvPr/>
        </p:nvSpPr>
        <p:spPr>
          <a:xfrm>
            <a:off x="3337560" y="3465720"/>
            <a:ext cx="2412720" cy="528840"/>
          </a:xfrm>
          <a:prstGeom prst="roundRect">
            <a:avLst>
              <a:gd name="adj" fmla="val 12069"/>
            </a:avLst>
          </a:prstGeom>
          <a:solidFill>
            <a:srgbClr val="0A1628">
              <a:alpha val="70000"/>
            </a:srgbClr>
          </a:solidFill>
          <a:ln w="6350">
            <a:solidFill>
              <a:srgbClr val="7DD3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2"/>
          <p:cNvSpPr/>
          <p:nvPr/>
        </p:nvSpPr>
        <p:spPr>
          <a:xfrm>
            <a:off x="3374280" y="3511440"/>
            <a:ext cx="233928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IP Network Manager (CIDR)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3"/>
          <p:cNvSpPr/>
          <p:nvPr/>
        </p:nvSpPr>
        <p:spPr>
          <a:xfrm>
            <a:off x="3337560" y="4087440"/>
            <a:ext cx="2412720" cy="528840"/>
          </a:xfrm>
          <a:prstGeom prst="roundRect">
            <a:avLst>
              <a:gd name="adj" fmla="val 12069"/>
            </a:avLst>
          </a:prstGeom>
          <a:solidFill>
            <a:srgbClr val="0A1628">
              <a:alpha val="70000"/>
            </a:srgbClr>
          </a:solidFill>
          <a:ln w="6350">
            <a:solidFill>
              <a:srgbClr val="7DD3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4"/>
          <p:cNvSpPr/>
          <p:nvPr/>
        </p:nvSpPr>
        <p:spPr>
          <a:xfrm>
            <a:off x="3374280" y="4133160"/>
            <a:ext cx="233928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IDS Module (threshold + sig)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5"/>
          <p:cNvSpPr/>
          <p:nvPr/>
        </p:nvSpPr>
        <p:spPr>
          <a:xfrm>
            <a:off x="5915880" y="2907720"/>
            <a:ext cx="237960" cy="360"/>
          </a:xfrm>
          <a:prstGeom prst="line">
            <a:avLst/>
          </a:prstGeom>
          <a:ln w="254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6"/>
          <p:cNvSpPr/>
          <p:nvPr/>
        </p:nvSpPr>
        <p:spPr>
          <a:xfrm>
            <a:off x="6144840" y="932760"/>
            <a:ext cx="2741760" cy="3930480"/>
          </a:xfrm>
          <a:prstGeom prst="roundRect">
            <a:avLst>
              <a:gd name="adj" fmla="val 5000"/>
            </a:avLst>
          </a:prstGeom>
          <a:solidFill>
            <a:srgbClr val="0A3D6B">
              <a:alpha val="80000"/>
            </a:srgbClr>
          </a:solidFill>
          <a:ln w="19050">
            <a:solidFill>
              <a:srgbClr val="06B6D4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7"/>
          <p:cNvSpPr/>
          <p:nvPr/>
        </p:nvSpPr>
        <p:spPr>
          <a:xfrm>
            <a:off x="6236280" y="1005840"/>
            <a:ext cx="255888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ambria"/>
                <a:ea typeface="Cambria"/>
              </a:rPr>
              <a:t>DATA TIER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8"/>
          <p:cNvSpPr/>
          <p:nvPr/>
        </p:nvSpPr>
        <p:spPr>
          <a:xfrm>
            <a:off x="6327720" y="1481400"/>
            <a:ext cx="2376000" cy="25920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9"/>
          <p:cNvSpPr/>
          <p:nvPr/>
        </p:nvSpPr>
        <p:spPr>
          <a:xfrm>
            <a:off x="6309360" y="1600200"/>
            <a:ext cx="2412720" cy="528840"/>
          </a:xfrm>
          <a:prstGeom prst="roundRect">
            <a:avLst>
              <a:gd name="adj" fmla="val 12069"/>
            </a:avLst>
          </a:prstGeom>
          <a:solidFill>
            <a:srgbClr val="0A1628">
              <a:alpha val="70000"/>
            </a:srgbClr>
          </a:solidFill>
          <a:ln w="6350">
            <a:solidFill>
              <a:srgbClr val="7DD3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0"/>
          <p:cNvSpPr/>
          <p:nvPr/>
        </p:nvSpPr>
        <p:spPr>
          <a:xfrm>
            <a:off x="6346080" y="1645920"/>
            <a:ext cx="233928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MongoDB (Users, Peers, Logs)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1"/>
          <p:cNvSpPr/>
          <p:nvPr/>
        </p:nvSpPr>
        <p:spPr>
          <a:xfrm>
            <a:off x="6309360" y="2221920"/>
            <a:ext cx="2412720" cy="528840"/>
          </a:xfrm>
          <a:prstGeom prst="roundRect">
            <a:avLst>
              <a:gd name="adj" fmla="val 12069"/>
            </a:avLst>
          </a:prstGeom>
          <a:solidFill>
            <a:srgbClr val="0A1628">
              <a:alpha val="70000"/>
            </a:srgbClr>
          </a:solidFill>
          <a:ln w="6350">
            <a:solidFill>
              <a:srgbClr val="7DD3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2"/>
          <p:cNvSpPr/>
          <p:nvPr/>
        </p:nvSpPr>
        <p:spPr>
          <a:xfrm>
            <a:off x="6346080" y="2267640"/>
            <a:ext cx="233928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WireGuard Config Files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3"/>
          <p:cNvSpPr/>
          <p:nvPr/>
        </p:nvSpPr>
        <p:spPr>
          <a:xfrm>
            <a:off x="6309360" y="2843640"/>
            <a:ext cx="2412720" cy="528840"/>
          </a:xfrm>
          <a:prstGeom prst="roundRect">
            <a:avLst>
              <a:gd name="adj" fmla="val 12069"/>
            </a:avLst>
          </a:prstGeom>
          <a:solidFill>
            <a:srgbClr val="0A1628">
              <a:alpha val="70000"/>
            </a:srgbClr>
          </a:solidFill>
          <a:ln w="6350">
            <a:solidFill>
              <a:srgbClr val="7DD3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4"/>
          <p:cNvSpPr/>
          <p:nvPr/>
        </p:nvSpPr>
        <p:spPr>
          <a:xfrm>
            <a:off x="6346080" y="2889360"/>
            <a:ext cx="233928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Audit Log Store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5"/>
          <p:cNvSpPr/>
          <p:nvPr/>
        </p:nvSpPr>
        <p:spPr>
          <a:xfrm>
            <a:off x="457200" y="4846320"/>
            <a:ext cx="82281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Three-Tier Architecture: Presentation → Application Logic → Data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9"/>
          <p:cNvSpPr/>
          <p:nvPr/>
        </p:nvSpPr>
        <p:spPr>
          <a:xfrm>
            <a:off x="6300000" y="3456000"/>
            <a:ext cx="2412720" cy="528840"/>
          </a:xfrm>
          <a:prstGeom prst="roundRect">
            <a:avLst>
              <a:gd name="adj" fmla="val 12069"/>
            </a:avLst>
          </a:prstGeom>
          <a:solidFill>
            <a:srgbClr val="0A1628">
              <a:alpha val="70000"/>
            </a:srgbClr>
          </a:solidFill>
          <a:ln w="6350">
            <a:solidFill>
              <a:srgbClr val="7DD3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6876000" y="3636000"/>
            <a:ext cx="1355400" cy="24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Iptable Config Files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0"/>
          <p:cNvSpPr/>
          <p:nvPr/>
        </p:nvSpPr>
        <p:spPr>
          <a:xfrm>
            <a:off x="0" y="0"/>
            <a:ext cx="9142560" cy="95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"/>
          <p:cNvSpPr/>
          <p:nvPr/>
        </p:nvSpPr>
        <p:spPr>
          <a:xfrm>
            <a:off x="457200" y="164520"/>
            <a:ext cx="82281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METHODOLOGY &amp; IMPLEMENTATION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"/>
          <p:cNvSpPr/>
          <p:nvPr/>
        </p:nvSpPr>
        <p:spPr>
          <a:xfrm>
            <a:off x="255960" y="1078920"/>
            <a:ext cx="4204800" cy="182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F2FE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"/>
          <p:cNvSpPr/>
          <p:nvPr/>
        </p:nvSpPr>
        <p:spPr>
          <a:xfrm>
            <a:off x="255960" y="1078920"/>
            <a:ext cx="4204800" cy="474120"/>
          </a:xfrm>
          <a:prstGeom prst="roundRect">
            <a:avLst>
              <a:gd name="adj" fmla="val 23077"/>
            </a:avLst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4"/>
          <p:cNvSpPr/>
          <p:nvPr/>
        </p:nvSpPr>
        <p:spPr>
          <a:xfrm>
            <a:off x="393120" y="1134000"/>
            <a:ext cx="39304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Authentication &amp; RBAC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5"/>
          <p:cNvSpPr/>
          <p:nvPr/>
        </p:nvSpPr>
        <p:spPr>
          <a:xfrm>
            <a:off x="457200" y="1627560"/>
            <a:ext cx="3839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›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bcrypt password hashing 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6"/>
          <p:cNvSpPr/>
          <p:nvPr/>
        </p:nvSpPr>
        <p:spPr>
          <a:xfrm>
            <a:off x="457200" y="1938600"/>
            <a:ext cx="3839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›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TOTP 2FA via RFC 6238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7"/>
          <p:cNvSpPr/>
          <p:nvPr/>
        </p:nvSpPr>
        <p:spPr>
          <a:xfrm>
            <a:off x="457200" y="2249280"/>
            <a:ext cx="3839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›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JWT access tokens (2-hours expiry)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8"/>
          <p:cNvSpPr/>
          <p:nvPr/>
        </p:nvSpPr>
        <p:spPr>
          <a:xfrm>
            <a:off x="457200" y="2560320"/>
            <a:ext cx="3839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›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Refresh token rotation (7 days)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9"/>
          <p:cNvSpPr/>
          <p:nvPr/>
        </p:nvSpPr>
        <p:spPr>
          <a:xfrm>
            <a:off x="4681800" y="1078920"/>
            <a:ext cx="4204800" cy="182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F2FE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0"/>
          <p:cNvSpPr/>
          <p:nvPr/>
        </p:nvSpPr>
        <p:spPr>
          <a:xfrm>
            <a:off x="4681800" y="1078920"/>
            <a:ext cx="4204800" cy="474120"/>
          </a:xfrm>
          <a:prstGeom prst="roundRect">
            <a:avLst>
              <a:gd name="adj" fmla="val 23077"/>
            </a:avLst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1"/>
          <p:cNvSpPr/>
          <p:nvPr/>
        </p:nvSpPr>
        <p:spPr>
          <a:xfrm>
            <a:off x="4818960" y="1134000"/>
            <a:ext cx="39304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WireGuard Peer Management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2"/>
          <p:cNvSpPr/>
          <p:nvPr/>
        </p:nvSpPr>
        <p:spPr>
          <a:xfrm>
            <a:off x="4883040" y="1627560"/>
            <a:ext cx="3839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›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addPeer() / removePeer() 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3"/>
          <p:cNvSpPr/>
          <p:nvPr/>
        </p:nvSpPr>
        <p:spPr>
          <a:xfrm>
            <a:off x="4883040" y="1938600"/>
            <a:ext cx="3839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›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wg set CLI via shell_exec()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4"/>
          <p:cNvSpPr/>
          <p:nvPr/>
        </p:nvSpPr>
        <p:spPr>
          <a:xfrm>
            <a:off x="4883040" y="2249280"/>
            <a:ext cx="3839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›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Sequential IP allocation (MongoDB bitmap)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5"/>
          <p:cNvSpPr/>
          <p:nvPr/>
        </p:nvSpPr>
        <p:spPr>
          <a:xfrm>
            <a:off x="4883040" y="2560320"/>
            <a:ext cx="3839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›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QR code provisioning 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6"/>
          <p:cNvSpPr/>
          <p:nvPr/>
        </p:nvSpPr>
        <p:spPr>
          <a:xfrm>
            <a:off x="255960" y="3017520"/>
            <a:ext cx="4204800" cy="182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F2FE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7"/>
          <p:cNvSpPr/>
          <p:nvPr/>
        </p:nvSpPr>
        <p:spPr>
          <a:xfrm>
            <a:off x="255960" y="3017520"/>
            <a:ext cx="4204800" cy="474120"/>
          </a:xfrm>
          <a:prstGeom prst="roundRect">
            <a:avLst>
              <a:gd name="adj" fmla="val 23077"/>
            </a:avLst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8"/>
          <p:cNvSpPr/>
          <p:nvPr/>
        </p:nvSpPr>
        <p:spPr>
          <a:xfrm>
            <a:off x="393120" y="3072240"/>
            <a:ext cx="39304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 Firewall Management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9"/>
          <p:cNvSpPr/>
          <p:nvPr/>
        </p:nvSpPr>
        <p:spPr>
          <a:xfrm>
            <a:off x="457200" y="3566160"/>
            <a:ext cx="3839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›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iptables via escapeshellarg()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0"/>
          <p:cNvSpPr/>
          <p:nvPr/>
        </p:nvSpPr>
        <p:spPr>
          <a:xfrm>
            <a:off x="457200" y="3877200"/>
            <a:ext cx="3839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›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Default-deny INPUT policy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1"/>
          <p:cNvSpPr/>
          <p:nvPr/>
        </p:nvSpPr>
        <p:spPr>
          <a:xfrm>
            <a:off x="457200" y="4187880"/>
            <a:ext cx="3839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›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Rules stored in MongoDB + atomic rebuild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2"/>
          <p:cNvSpPr/>
          <p:nvPr/>
        </p:nvSpPr>
        <p:spPr>
          <a:xfrm>
            <a:off x="457200" y="4498920"/>
            <a:ext cx="3839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›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Dynamic INSERT / DELETE operations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3"/>
          <p:cNvSpPr/>
          <p:nvPr/>
        </p:nvSpPr>
        <p:spPr>
          <a:xfrm>
            <a:off x="4681800" y="3017520"/>
            <a:ext cx="4204800" cy="182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F2FE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4"/>
          <p:cNvSpPr/>
          <p:nvPr/>
        </p:nvSpPr>
        <p:spPr>
          <a:xfrm>
            <a:off x="4681800" y="3017520"/>
            <a:ext cx="4204800" cy="474120"/>
          </a:xfrm>
          <a:prstGeom prst="roundRect">
            <a:avLst>
              <a:gd name="adj" fmla="val 23077"/>
            </a:avLst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5"/>
          <p:cNvSpPr/>
          <p:nvPr/>
        </p:nvSpPr>
        <p:spPr>
          <a:xfrm>
            <a:off x="4818960" y="3072240"/>
            <a:ext cx="39304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 Monitoring &amp; IDS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6"/>
          <p:cNvSpPr/>
          <p:nvPr/>
        </p:nvSpPr>
        <p:spPr>
          <a:xfrm>
            <a:off x="4883040" y="3566160"/>
            <a:ext cx="3839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›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Fetch API polling every 5 seconds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7"/>
          <p:cNvSpPr/>
          <p:nvPr/>
        </p:nvSpPr>
        <p:spPr>
          <a:xfrm>
            <a:off x="4883040" y="3877200"/>
            <a:ext cx="3839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›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wg show parsed for per-peer stats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8"/>
          <p:cNvSpPr/>
          <p:nvPr/>
        </p:nvSpPr>
        <p:spPr>
          <a:xfrm>
            <a:off x="4883040" y="4187880"/>
            <a:ext cx="3839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›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Signature-based + threshold anomaly IDS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9"/>
          <p:cNvSpPr/>
          <p:nvPr/>
        </p:nvSpPr>
        <p:spPr>
          <a:xfrm>
            <a:off x="4883040" y="4498920"/>
            <a:ext cx="3839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›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Auto-block: &gt;100 attempts/min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0" y="0"/>
            <a:ext cx="9142560" cy="821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"/>
          <p:cNvSpPr/>
          <p:nvPr/>
        </p:nvSpPr>
        <p:spPr>
          <a:xfrm>
            <a:off x="457200" y="13716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SECURITY ARCHITECTURE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"/>
          <p:cNvSpPr/>
          <p:nvPr/>
        </p:nvSpPr>
        <p:spPr>
          <a:xfrm>
            <a:off x="201240" y="914400"/>
            <a:ext cx="8740080" cy="730080"/>
          </a:xfrm>
          <a:prstGeom prst="roundRect">
            <a:avLst>
              <a:gd name="adj" fmla="val 7500"/>
            </a:avLst>
          </a:prstGeom>
          <a:solidFill>
            <a:srgbClr val="134E4A"/>
          </a:solidFill>
          <a:ln w="1016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"/>
          <p:cNvSpPr/>
          <p:nvPr/>
        </p:nvSpPr>
        <p:spPr>
          <a:xfrm>
            <a:off x="320040" y="987480"/>
            <a:ext cx="8215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Layer 1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4"/>
          <p:cNvSpPr/>
          <p:nvPr/>
        </p:nvSpPr>
        <p:spPr>
          <a:xfrm>
            <a:off x="1170360" y="969120"/>
            <a:ext cx="22845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Network Perimeter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5"/>
          <p:cNvSpPr/>
          <p:nvPr/>
        </p:nvSpPr>
        <p:spPr>
          <a:xfrm>
            <a:off x="1170360" y="1280160"/>
            <a:ext cx="7313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DD3FC"/>
                </a:solidFill>
                <a:effectLst/>
                <a:uFillTx/>
                <a:latin typeface="Calibri"/>
                <a:ea typeface="Calibri"/>
              </a:rPr>
              <a:t>iptables default-deny; only ports 22, 80, 443, 51820 open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6"/>
          <p:cNvSpPr/>
          <p:nvPr/>
        </p:nvSpPr>
        <p:spPr>
          <a:xfrm>
            <a:off x="274320" y="1737360"/>
            <a:ext cx="8593920" cy="730080"/>
          </a:xfrm>
          <a:prstGeom prst="roundRect">
            <a:avLst>
              <a:gd name="adj" fmla="val 7500"/>
            </a:avLst>
          </a:prstGeom>
          <a:solidFill>
            <a:srgbClr val="0F766E"/>
          </a:solidFill>
          <a:ln w="1016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7"/>
          <p:cNvSpPr/>
          <p:nvPr/>
        </p:nvSpPr>
        <p:spPr>
          <a:xfrm>
            <a:off x="393120" y="1810440"/>
            <a:ext cx="8215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Layer 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8"/>
          <p:cNvSpPr/>
          <p:nvPr/>
        </p:nvSpPr>
        <p:spPr>
          <a:xfrm>
            <a:off x="1243440" y="1792080"/>
            <a:ext cx="22845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Transport Encryption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9"/>
          <p:cNvSpPr/>
          <p:nvPr/>
        </p:nvSpPr>
        <p:spPr>
          <a:xfrm>
            <a:off x="1243440" y="2103120"/>
            <a:ext cx="7313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DD3FC"/>
                </a:solidFill>
                <a:effectLst/>
                <a:uFillTx/>
                <a:latin typeface="Calibri"/>
                <a:ea typeface="Calibri"/>
              </a:rPr>
              <a:t>WireGuard ChaCha20-Poly1305; all inter-peer traffic encrypted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0"/>
          <p:cNvSpPr/>
          <p:nvPr/>
        </p:nvSpPr>
        <p:spPr>
          <a:xfrm>
            <a:off x="347400" y="2560320"/>
            <a:ext cx="8447760" cy="730080"/>
          </a:xfrm>
          <a:prstGeom prst="roundRect">
            <a:avLst>
              <a:gd name="adj" fmla="val 7500"/>
            </a:avLst>
          </a:prstGeom>
          <a:solidFill>
            <a:srgbClr val="0E7490"/>
          </a:solidFill>
          <a:ln w="1016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1"/>
          <p:cNvSpPr/>
          <p:nvPr/>
        </p:nvSpPr>
        <p:spPr>
          <a:xfrm>
            <a:off x="466200" y="2633400"/>
            <a:ext cx="8215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Layer 3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2"/>
          <p:cNvSpPr/>
          <p:nvPr/>
        </p:nvSpPr>
        <p:spPr>
          <a:xfrm>
            <a:off x="1316880" y="2615040"/>
            <a:ext cx="22845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Application Authentication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3"/>
          <p:cNvSpPr/>
          <p:nvPr/>
        </p:nvSpPr>
        <p:spPr>
          <a:xfrm>
            <a:off x="1316880" y="2926080"/>
            <a:ext cx="7313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DD3FC"/>
                </a:solidFill>
                <a:effectLst/>
                <a:uFillTx/>
                <a:latin typeface="Calibri"/>
                <a:ea typeface="Calibri"/>
              </a:rPr>
              <a:t>OAuth 2.0 JWT (2-hours) + refresh token rotation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4"/>
          <p:cNvSpPr/>
          <p:nvPr/>
        </p:nvSpPr>
        <p:spPr>
          <a:xfrm>
            <a:off x="420480" y="3383280"/>
            <a:ext cx="8301240" cy="730080"/>
          </a:xfrm>
          <a:prstGeom prst="roundRect">
            <a:avLst>
              <a:gd name="adj" fmla="val 7500"/>
            </a:avLst>
          </a:prstGeom>
          <a:solidFill>
            <a:srgbClr val="1D4ED8"/>
          </a:solidFill>
          <a:ln w="1016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5"/>
          <p:cNvSpPr/>
          <p:nvPr/>
        </p:nvSpPr>
        <p:spPr>
          <a:xfrm>
            <a:off x="539640" y="3456360"/>
            <a:ext cx="8215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Layer 4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6"/>
          <p:cNvSpPr/>
          <p:nvPr/>
        </p:nvSpPr>
        <p:spPr>
          <a:xfrm>
            <a:off x="1389960" y="3438000"/>
            <a:ext cx="22845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Identity Verification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7"/>
          <p:cNvSpPr/>
          <p:nvPr/>
        </p:nvSpPr>
        <p:spPr>
          <a:xfrm>
            <a:off x="1389960" y="3749040"/>
            <a:ext cx="7313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DD3FC"/>
                </a:solidFill>
                <a:effectLst/>
                <a:uFillTx/>
                <a:latin typeface="Calibri"/>
                <a:ea typeface="Calibri"/>
              </a:rPr>
              <a:t>OTP 2FA (RFC 6238); stolen credentials alone insufficient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8"/>
          <p:cNvSpPr/>
          <p:nvPr/>
        </p:nvSpPr>
        <p:spPr>
          <a:xfrm>
            <a:off x="493920" y="4206240"/>
            <a:ext cx="8155080" cy="730080"/>
          </a:xfrm>
          <a:prstGeom prst="roundRect">
            <a:avLst>
              <a:gd name="adj" fmla="val 7500"/>
            </a:avLst>
          </a:prstGeom>
          <a:solidFill>
            <a:srgbClr val="5B21B6"/>
          </a:solidFill>
          <a:ln w="1016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9"/>
          <p:cNvSpPr/>
          <p:nvPr/>
        </p:nvSpPr>
        <p:spPr>
          <a:xfrm>
            <a:off x="612720" y="4279320"/>
            <a:ext cx="8215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Layer 5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0"/>
          <p:cNvSpPr/>
          <p:nvPr/>
        </p:nvSpPr>
        <p:spPr>
          <a:xfrm>
            <a:off x="1463040" y="4260960"/>
            <a:ext cx="22845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Authorisation (RBAC)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1"/>
          <p:cNvSpPr/>
          <p:nvPr/>
        </p:nvSpPr>
        <p:spPr>
          <a:xfrm>
            <a:off x="1463040" y="4572000"/>
            <a:ext cx="7313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DD3FC"/>
                </a:solidFill>
                <a:effectLst/>
                <a:uFillTx/>
                <a:latin typeface="Calibri"/>
                <a:ea typeface="Calibri"/>
              </a:rPr>
              <a:t>Principle of least privilege; users access only owned resources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2"/>
          <p:cNvSpPr/>
          <p:nvPr/>
        </p:nvSpPr>
        <p:spPr>
          <a:xfrm>
            <a:off x="457200" y="4919400"/>
            <a:ext cx="82281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Defence-in-Depth: 5 Concentric Security Layers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/>
          <p:cNvSpPr/>
          <p:nvPr/>
        </p:nvSpPr>
        <p:spPr>
          <a:xfrm>
            <a:off x="0" y="0"/>
            <a:ext cx="9142560" cy="95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"/>
          <p:cNvSpPr/>
          <p:nvPr/>
        </p:nvSpPr>
        <p:spPr>
          <a:xfrm>
            <a:off x="457200" y="164520"/>
            <a:ext cx="82281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TECHNOLOGIES USED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"/>
          <p:cNvSpPr/>
          <p:nvPr/>
        </p:nvSpPr>
        <p:spPr>
          <a:xfrm>
            <a:off x="255960" y="1051560"/>
            <a:ext cx="5576400" cy="3820680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19050">
            <a:solidFill>
              <a:srgbClr val="E0F2FE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"/>
          <p:cNvSpPr/>
          <p:nvPr/>
        </p:nvSpPr>
        <p:spPr>
          <a:xfrm>
            <a:off x="384120" y="1115640"/>
            <a:ext cx="53020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A1628"/>
                </a:solidFill>
                <a:effectLst/>
                <a:uFillTx/>
                <a:latin typeface="Calibri"/>
                <a:ea typeface="Calibri"/>
              </a:rPr>
              <a:t>SOFTWARE REQUIREMENTS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4"/>
          <p:cNvSpPr/>
          <p:nvPr/>
        </p:nvSpPr>
        <p:spPr>
          <a:xfrm>
            <a:off x="347400" y="1536120"/>
            <a:ext cx="19188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Component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5"/>
          <p:cNvSpPr/>
          <p:nvPr/>
        </p:nvSpPr>
        <p:spPr>
          <a:xfrm>
            <a:off x="2304360" y="153612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Version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6"/>
          <p:cNvSpPr/>
          <p:nvPr/>
        </p:nvSpPr>
        <p:spPr>
          <a:xfrm>
            <a:off x="3620880" y="1536120"/>
            <a:ext cx="19188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Purpose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7"/>
          <p:cNvSpPr/>
          <p:nvPr/>
        </p:nvSpPr>
        <p:spPr>
          <a:xfrm>
            <a:off x="347400" y="1828800"/>
            <a:ext cx="5256360" cy="2592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8"/>
          <p:cNvSpPr/>
          <p:nvPr/>
        </p:nvSpPr>
        <p:spPr>
          <a:xfrm>
            <a:off x="292680" y="1901880"/>
            <a:ext cx="5347800" cy="32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9"/>
          <p:cNvSpPr/>
          <p:nvPr/>
        </p:nvSpPr>
        <p:spPr>
          <a:xfrm>
            <a:off x="347400" y="193860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Ubuntu Server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0"/>
          <p:cNvSpPr/>
          <p:nvPr/>
        </p:nvSpPr>
        <p:spPr>
          <a:xfrm>
            <a:off x="2304360" y="1938600"/>
            <a:ext cx="12787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22.04 LTS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1"/>
          <p:cNvSpPr/>
          <p:nvPr/>
        </p:nvSpPr>
        <p:spPr>
          <a:xfrm>
            <a:off x="3620880" y="193860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Host OS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2"/>
          <p:cNvSpPr/>
          <p:nvPr/>
        </p:nvSpPr>
        <p:spPr>
          <a:xfrm>
            <a:off x="292680" y="2249280"/>
            <a:ext cx="5347800" cy="327600"/>
          </a:xfrm>
          <a:prstGeom prst="rect">
            <a:avLst/>
          </a:prstGeom>
          <a:solidFill>
            <a:srgbClr val="F0F9FF"/>
          </a:solidFill>
          <a:ln w="12700">
            <a:solidFill>
              <a:srgbClr val="E0F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3"/>
          <p:cNvSpPr/>
          <p:nvPr/>
        </p:nvSpPr>
        <p:spPr>
          <a:xfrm>
            <a:off x="347400" y="228600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WireGuard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4"/>
          <p:cNvSpPr/>
          <p:nvPr/>
        </p:nvSpPr>
        <p:spPr>
          <a:xfrm>
            <a:off x="2304360" y="2286000"/>
            <a:ext cx="12787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1.0.0+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5"/>
          <p:cNvSpPr/>
          <p:nvPr/>
        </p:nvSpPr>
        <p:spPr>
          <a:xfrm>
            <a:off x="3620880" y="228600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VPN Tunnelling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6"/>
          <p:cNvSpPr/>
          <p:nvPr/>
        </p:nvSpPr>
        <p:spPr>
          <a:xfrm>
            <a:off x="292680" y="2597040"/>
            <a:ext cx="5347800" cy="32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7"/>
          <p:cNvSpPr/>
          <p:nvPr/>
        </p:nvSpPr>
        <p:spPr>
          <a:xfrm>
            <a:off x="347400" y="263340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iptables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8"/>
          <p:cNvSpPr/>
          <p:nvPr/>
        </p:nvSpPr>
        <p:spPr>
          <a:xfrm>
            <a:off x="2304360" y="2633400"/>
            <a:ext cx="12787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1.8.7+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9"/>
          <p:cNvSpPr/>
          <p:nvPr/>
        </p:nvSpPr>
        <p:spPr>
          <a:xfrm>
            <a:off x="3620880" y="263340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Firewall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20"/>
          <p:cNvSpPr/>
          <p:nvPr/>
        </p:nvSpPr>
        <p:spPr>
          <a:xfrm>
            <a:off x="292680" y="2944440"/>
            <a:ext cx="5347800" cy="327600"/>
          </a:xfrm>
          <a:prstGeom prst="rect">
            <a:avLst/>
          </a:prstGeom>
          <a:solidFill>
            <a:srgbClr val="F0F9FF"/>
          </a:solidFill>
          <a:ln w="12700">
            <a:solidFill>
              <a:srgbClr val="E0F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21"/>
          <p:cNvSpPr/>
          <p:nvPr/>
        </p:nvSpPr>
        <p:spPr>
          <a:xfrm>
            <a:off x="347400" y="298080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PHP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2"/>
          <p:cNvSpPr/>
          <p:nvPr/>
        </p:nvSpPr>
        <p:spPr>
          <a:xfrm>
            <a:off x="2304360" y="2980800"/>
            <a:ext cx="12787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8.1+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3"/>
          <p:cNvSpPr/>
          <p:nvPr/>
        </p:nvSpPr>
        <p:spPr>
          <a:xfrm>
            <a:off x="3620880" y="298080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Backend API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24"/>
          <p:cNvSpPr/>
          <p:nvPr/>
        </p:nvSpPr>
        <p:spPr>
          <a:xfrm>
            <a:off x="292680" y="3291840"/>
            <a:ext cx="5347800" cy="32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5"/>
          <p:cNvSpPr/>
          <p:nvPr/>
        </p:nvSpPr>
        <p:spPr>
          <a:xfrm>
            <a:off x="347400" y="332856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MongoDB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6"/>
          <p:cNvSpPr/>
          <p:nvPr/>
        </p:nvSpPr>
        <p:spPr>
          <a:xfrm>
            <a:off x="2304360" y="3328560"/>
            <a:ext cx="12787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6.0+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7"/>
          <p:cNvSpPr/>
          <p:nvPr/>
        </p:nvSpPr>
        <p:spPr>
          <a:xfrm>
            <a:off x="3620880" y="332856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Data Store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28"/>
          <p:cNvSpPr/>
          <p:nvPr/>
        </p:nvSpPr>
        <p:spPr>
          <a:xfrm>
            <a:off x="292680" y="3639240"/>
            <a:ext cx="5347800" cy="327600"/>
          </a:xfrm>
          <a:prstGeom prst="rect">
            <a:avLst/>
          </a:prstGeom>
          <a:solidFill>
            <a:srgbClr val="F0F9FF"/>
          </a:solidFill>
          <a:ln w="12700">
            <a:solidFill>
              <a:srgbClr val="E0F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9"/>
          <p:cNvSpPr/>
          <p:nvPr/>
        </p:nvSpPr>
        <p:spPr>
          <a:xfrm>
            <a:off x="347400" y="367596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Bootstrap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0"/>
          <p:cNvSpPr/>
          <p:nvPr/>
        </p:nvSpPr>
        <p:spPr>
          <a:xfrm>
            <a:off x="2304360" y="3675960"/>
            <a:ext cx="12787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5.3.2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31"/>
          <p:cNvSpPr/>
          <p:nvPr/>
        </p:nvSpPr>
        <p:spPr>
          <a:xfrm>
            <a:off x="3620880" y="367596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UI Framework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32"/>
          <p:cNvSpPr/>
          <p:nvPr/>
        </p:nvSpPr>
        <p:spPr>
          <a:xfrm>
            <a:off x="292680" y="3986640"/>
            <a:ext cx="5347800" cy="32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33"/>
          <p:cNvSpPr/>
          <p:nvPr/>
        </p:nvSpPr>
        <p:spPr>
          <a:xfrm>
            <a:off x="347400" y="402336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Apache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34"/>
          <p:cNvSpPr/>
          <p:nvPr/>
        </p:nvSpPr>
        <p:spPr>
          <a:xfrm>
            <a:off x="2304360" y="4023360"/>
            <a:ext cx="12787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Latest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5"/>
          <p:cNvSpPr/>
          <p:nvPr/>
        </p:nvSpPr>
        <p:spPr>
          <a:xfrm>
            <a:off x="3620880" y="402336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Web Server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36"/>
          <p:cNvSpPr/>
          <p:nvPr/>
        </p:nvSpPr>
        <p:spPr>
          <a:xfrm>
            <a:off x="292680" y="4334400"/>
            <a:ext cx="5347800" cy="327600"/>
          </a:xfrm>
          <a:prstGeom prst="rect">
            <a:avLst/>
          </a:prstGeom>
          <a:solidFill>
            <a:srgbClr val="F0F9FF"/>
          </a:solidFill>
          <a:ln w="12700">
            <a:solidFill>
              <a:srgbClr val="E0F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37"/>
          <p:cNvSpPr/>
          <p:nvPr/>
        </p:nvSpPr>
        <p:spPr>
          <a:xfrm>
            <a:off x="347400" y="437076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OAuth 2.0 / JWT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38"/>
          <p:cNvSpPr/>
          <p:nvPr/>
        </p:nvSpPr>
        <p:spPr>
          <a:xfrm>
            <a:off x="2304360" y="4370760"/>
            <a:ext cx="12787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RFC 6749 / 7519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39"/>
          <p:cNvSpPr/>
          <p:nvPr/>
        </p:nvSpPr>
        <p:spPr>
          <a:xfrm>
            <a:off x="3620880" y="437076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Auth Protocol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40"/>
          <p:cNvSpPr/>
          <p:nvPr/>
        </p:nvSpPr>
        <p:spPr>
          <a:xfrm>
            <a:off x="6035040" y="1051560"/>
            <a:ext cx="2851560" cy="38206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E0F2FE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41"/>
          <p:cNvSpPr/>
          <p:nvPr/>
        </p:nvSpPr>
        <p:spPr>
          <a:xfrm>
            <a:off x="6144840" y="1115640"/>
            <a:ext cx="2631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A1628"/>
                </a:solidFill>
                <a:effectLst/>
                <a:uFillTx/>
                <a:latin typeface="Calibri"/>
                <a:ea typeface="Calibri"/>
              </a:rPr>
              <a:t>HARDWARE REQUIREMENTS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42"/>
          <p:cNvSpPr/>
          <p:nvPr/>
        </p:nvSpPr>
        <p:spPr>
          <a:xfrm>
            <a:off x="6144840" y="1572840"/>
            <a:ext cx="2604600" cy="45576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0160">
            <a:solidFill>
              <a:srgbClr val="E0F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43"/>
          <p:cNvSpPr/>
          <p:nvPr/>
        </p:nvSpPr>
        <p:spPr>
          <a:xfrm>
            <a:off x="6217920" y="1609200"/>
            <a:ext cx="9129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CPU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44"/>
          <p:cNvSpPr/>
          <p:nvPr/>
        </p:nvSpPr>
        <p:spPr>
          <a:xfrm>
            <a:off x="6217920" y="1792080"/>
            <a:ext cx="24217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Quad-Core 2.5 GHz+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45"/>
          <p:cNvSpPr/>
          <p:nvPr/>
        </p:nvSpPr>
        <p:spPr>
          <a:xfrm>
            <a:off x="6144840" y="2094120"/>
            <a:ext cx="2604600" cy="45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0F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46"/>
          <p:cNvSpPr/>
          <p:nvPr/>
        </p:nvSpPr>
        <p:spPr>
          <a:xfrm>
            <a:off x="6217920" y="2130480"/>
            <a:ext cx="9129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RAM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47"/>
          <p:cNvSpPr/>
          <p:nvPr/>
        </p:nvSpPr>
        <p:spPr>
          <a:xfrm>
            <a:off x="6217920" y="2313360"/>
            <a:ext cx="24217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4 GB+ RAM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48"/>
          <p:cNvSpPr/>
          <p:nvPr/>
        </p:nvSpPr>
        <p:spPr>
          <a:xfrm>
            <a:off x="6144840" y="2615040"/>
            <a:ext cx="2604600" cy="45576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0160">
            <a:solidFill>
              <a:srgbClr val="E0F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49"/>
          <p:cNvSpPr/>
          <p:nvPr/>
        </p:nvSpPr>
        <p:spPr>
          <a:xfrm>
            <a:off x="6217920" y="2651760"/>
            <a:ext cx="9129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Storage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50"/>
          <p:cNvSpPr/>
          <p:nvPr/>
        </p:nvSpPr>
        <p:spPr>
          <a:xfrm>
            <a:off x="6217920" y="2834640"/>
            <a:ext cx="24217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50 GB SSD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51"/>
          <p:cNvSpPr/>
          <p:nvPr/>
        </p:nvSpPr>
        <p:spPr>
          <a:xfrm>
            <a:off x="6144840" y="3136320"/>
            <a:ext cx="2604600" cy="45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0F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52"/>
          <p:cNvSpPr/>
          <p:nvPr/>
        </p:nvSpPr>
        <p:spPr>
          <a:xfrm>
            <a:off x="6217920" y="3173040"/>
            <a:ext cx="9129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Network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53"/>
          <p:cNvSpPr/>
          <p:nvPr/>
        </p:nvSpPr>
        <p:spPr>
          <a:xfrm>
            <a:off x="6217920" y="3355920"/>
            <a:ext cx="24217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1 Gbps NIC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54"/>
          <p:cNvSpPr/>
          <p:nvPr/>
        </p:nvSpPr>
        <p:spPr>
          <a:xfrm>
            <a:off x="6144840" y="3657600"/>
            <a:ext cx="2604600" cy="45576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0160">
            <a:solidFill>
              <a:srgbClr val="E0F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55"/>
          <p:cNvSpPr/>
          <p:nvPr/>
        </p:nvSpPr>
        <p:spPr>
          <a:xfrm>
            <a:off x="6217920" y="3694320"/>
            <a:ext cx="9129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VPN Port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56"/>
          <p:cNvSpPr/>
          <p:nvPr/>
        </p:nvSpPr>
        <p:spPr>
          <a:xfrm>
            <a:off x="6217920" y="3877200"/>
            <a:ext cx="24217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UDP 51820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57"/>
          <p:cNvSpPr/>
          <p:nvPr/>
        </p:nvSpPr>
        <p:spPr>
          <a:xfrm>
            <a:off x="6144840" y="4178880"/>
            <a:ext cx="2604600" cy="45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0F2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58"/>
          <p:cNvSpPr/>
          <p:nvPr/>
        </p:nvSpPr>
        <p:spPr>
          <a:xfrm>
            <a:off x="6217920" y="4215240"/>
            <a:ext cx="9129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Web Ports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59"/>
          <p:cNvSpPr/>
          <p:nvPr/>
        </p:nvSpPr>
        <p:spPr>
          <a:xfrm>
            <a:off x="6217920" y="4398120"/>
            <a:ext cx="24217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TCP 80 / 443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0"/>
          <p:cNvSpPr/>
          <p:nvPr/>
        </p:nvSpPr>
        <p:spPr>
          <a:xfrm>
            <a:off x="0" y="0"/>
            <a:ext cx="9142560" cy="95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"/>
          <p:cNvSpPr/>
          <p:nvPr/>
        </p:nvSpPr>
        <p:spPr>
          <a:xfrm>
            <a:off x="457200" y="164520"/>
            <a:ext cx="82281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COMPARISON WITH EXISTING SYSTEMS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2"/>
          <p:cNvSpPr/>
          <p:nvPr/>
        </p:nvSpPr>
        <p:spPr>
          <a:xfrm>
            <a:off x="201240" y="1024200"/>
            <a:ext cx="2284560" cy="382680"/>
          </a:xfrm>
          <a:prstGeom prst="rect">
            <a:avLst/>
          </a:prstGeom>
          <a:solidFill>
            <a:srgbClr val="0A1628"/>
          </a:solidFill>
          <a:ln w="635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3"/>
          <p:cNvSpPr/>
          <p:nvPr/>
        </p:nvSpPr>
        <p:spPr>
          <a:xfrm>
            <a:off x="246960" y="1069920"/>
            <a:ext cx="21931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Feature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4"/>
          <p:cNvSpPr/>
          <p:nvPr/>
        </p:nvSpPr>
        <p:spPr>
          <a:xfrm>
            <a:off x="2514600" y="1024200"/>
            <a:ext cx="1370160" cy="382680"/>
          </a:xfrm>
          <a:prstGeom prst="rect">
            <a:avLst/>
          </a:prstGeom>
          <a:solidFill>
            <a:srgbClr val="0A1628"/>
          </a:solidFill>
          <a:ln w="635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5"/>
          <p:cNvSpPr/>
          <p:nvPr/>
        </p:nvSpPr>
        <p:spPr>
          <a:xfrm>
            <a:off x="2560320" y="1069920"/>
            <a:ext cx="12787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SunduVault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6"/>
          <p:cNvSpPr/>
          <p:nvPr/>
        </p:nvSpPr>
        <p:spPr>
          <a:xfrm>
            <a:off x="3913560" y="1024200"/>
            <a:ext cx="1370160" cy="382680"/>
          </a:xfrm>
          <a:prstGeom prst="rect">
            <a:avLst/>
          </a:prstGeom>
          <a:solidFill>
            <a:srgbClr val="0A1628"/>
          </a:solidFill>
          <a:ln w="635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7"/>
          <p:cNvSpPr/>
          <p:nvPr/>
        </p:nvSpPr>
        <p:spPr>
          <a:xfrm>
            <a:off x="3959280" y="1069920"/>
            <a:ext cx="12787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pfSense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8"/>
          <p:cNvSpPr/>
          <p:nvPr/>
        </p:nvSpPr>
        <p:spPr>
          <a:xfrm>
            <a:off x="5321880" y="1024200"/>
            <a:ext cx="1461600" cy="382680"/>
          </a:xfrm>
          <a:prstGeom prst="rect">
            <a:avLst/>
          </a:prstGeom>
          <a:solidFill>
            <a:srgbClr val="0A1628"/>
          </a:solidFill>
          <a:ln w="635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9"/>
          <p:cNvSpPr/>
          <p:nvPr/>
        </p:nvSpPr>
        <p:spPr>
          <a:xfrm>
            <a:off x="5367600" y="1069920"/>
            <a:ext cx="13701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OpenVPN AS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0"/>
          <p:cNvSpPr/>
          <p:nvPr/>
        </p:nvSpPr>
        <p:spPr>
          <a:xfrm>
            <a:off x="6821280" y="1024200"/>
            <a:ext cx="1553040" cy="382680"/>
          </a:xfrm>
          <a:prstGeom prst="rect">
            <a:avLst/>
          </a:prstGeom>
          <a:solidFill>
            <a:srgbClr val="0A1628"/>
          </a:solidFill>
          <a:ln w="635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1"/>
          <p:cNvSpPr/>
          <p:nvPr/>
        </p:nvSpPr>
        <p:spPr>
          <a:xfrm>
            <a:off x="6867000" y="1069920"/>
            <a:ext cx="14616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WireGuard CLI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2"/>
          <p:cNvSpPr/>
          <p:nvPr/>
        </p:nvSpPr>
        <p:spPr>
          <a:xfrm>
            <a:off x="201240" y="1435680"/>
            <a:ext cx="2284560" cy="41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3"/>
          <p:cNvSpPr/>
          <p:nvPr/>
        </p:nvSpPr>
        <p:spPr>
          <a:xfrm>
            <a:off x="246960" y="1508760"/>
            <a:ext cx="21931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Unified Web UI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4"/>
          <p:cNvSpPr/>
          <p:nvPr/>
        </p:nvSpPr>
        <p:spPr>
          <a:xfrm>
            <a:off x="2514600" y="1435680"/>
            <a:ext cx="1370160" cy="41004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5"/>
          <p:cNvSpPr/>
          <p:nvPr/>
        </p:nvSpPr>
        <p:spPr>
          <a:xfrm>
            <a:off x="2560320" y="150876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6"/>
          <p:cNvSpPr/>
          <p:nvPr/>
        </p:nvSpPr>
        <p:spPr>
          <a:xfrm>
            <a:off x="3913560" y="1435680"/>
            <a:ext cx="1370160" cy="41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7"/>
          <p:cNvSpPr/>
          <p:nvPr/>
        </p:nvSpPr>
        <p:spPr>
          <a:xfrm>
            <a:off x="3959280" y="150876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8"/>
          <p:cNvSpPr/>
          <p:nvPr/>
        </p:nvSpPr>
        <p:spPr>
          <a:xfrm>
            <a:off x="5321880" y="1435680"/>
            <a:ext cx="1461600" cy="41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9"/>
          <p:cNvSpPr/>
          <p:nvPr/>
        </p:nvSpPr>
        <p:spPr>
          <a:xfrm>
            <a:off x="5367600" y="1508760"/>
            <a:ext cx="1370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20"/>
          <p:cNvSpPr/>
          <p:nvPr/>
        </p:nvSpPr>
        <p:spPr>
          <a:xfrm>
            <a:off x="6821280" y="1435680"/>
            <a:ext cx="1553040" cy="41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1"/>
          <p:cNvSpPr/>
          <p:nvPr/>
        </p:nvSpPr>
        <p:spPr>
          <a:xfrm>
            <a:off x="6867000" y="1508760"/>
            <a:ext cx="1461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22"/>
          <p:cNvSpPr/>
          <p:nvPr/>
        </p:nvSpPr>
        <p:spPr>
          <a:xfrm>
            <a:off x="201240" y="1874520"/>
            <a:ext cx="2284560" cy="4100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3"/>
          <p:cNvSpPr/>
          <p:nvPr/>
        </p:nvSpPr>
        <p:spPr>
          <a:xfrm>
            <a:off x="246960" y="1947600"/>
            <a:ext cx="21931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WireGuard Support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24"/>
          <p:cNvSpPr/>
          <p:nvPr/>
        </p:nvSpPr>
        <p:spPr>
          <a:xfrm>
            <a:off x="2514600" y="1874520"/>
            <a:ext cx="1370160" cy="41004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5"/>
          <p:cNvSpPr/>
          <p:nvPr/>
        </p:nvSpPr>
        <p:spPr>
          <a:xfrm>
            <a:off x="2560320" y="194760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26"/>
          <p:cNvSpPr/>
          <p:nvPr/>
        </p:nvSpPr>
        <p:spPr>
          <a:xfrm>
            <a:off x="3913560" y="1874520"/>
            <a:ext cx="1370160" cy="4100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7"/>
          <p:cNvSpPr/>
          <p:nvPr/>
        </p:nvSpPr>
        <p:spPr>
          <a:xfrm>
            <a:off x="3959280" y="194760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Partial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28"/>
          <p:cNvSpPr/>
          <p:nvPr/>
        </p:nvSpPr>
        <p:spPr>
          <a:xfrm>
            <a:off x="5321880" y="1874520"/>
            <a:ext cx="1461600" cy="4100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9"/>
          <p:cNvSpPr/>
          <p:nvPr/>
        </p:nvSpPr>
        <p:spPr>
          <a:xfrm>
            <a:off x="5367600" y="1947600"/>
            <a:ext cx="1370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30"/>
          <p:cNvSpPr/>
          <p:nvPr/>
        </p:nvSpPr>
        <p:spPr>
          <a:xfrm>
            <a:off x="6821280" y="1874520"/>
            <a:ext cx="1553040" cy="4100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31"/>
          <p:cNvSpPr/>
          <p:nvPr/>
        </p:nvSpPr>
        <p:spPr>
          <a:xfrm>
            <a:off x="6867000" y="1947600"/>
            <a:ext cx="1461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32"/>
          <p:cNvSpPr/>
          <p:nvPr/>
        </p:nvSpPr>
        <p:spPr>
          <a:xfrm>
            <a:off x="201240" y="2313360"/>
            <a:ext cx="2284560" cy="41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33"/>
          <p:cNvSpPr/>
          <p:nvPr/>
        </p:nvSpPr>
        <p:spPr>
          <a:xfrm>
            <a:off x="246960" y="2386440"/>
            <a:ext cx="21931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RBAC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34"/>
          <p:cNvSpPr/>
          <p:nvPr/>
        </p:nvSpPr>
        <p:spPr>
          <a:xfrm>
            <a:off x="2514600" y="2313360"/>
            <a:ext cx="1370160" cy="41004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35"/>
          <p:cNvSpPr/>
          <p:nvPr/>
        </p:nvSpPr>
        <p:spPr>
          <a:xfrm>
            <a:off x="2560320" y="238644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36"/>
          <p:cNvSpPr/>
          <p:nvPr/>
        </p:nvSpPr>
        <p:spPr>
          <a:xfrm>
            <a:off x="3913560" y="2313360"/>
            <a:ext cx="1370160" cy="41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37"/>
          <p:cNvSpPr/>
          <p:nvPr/>
        </p:nvSpPr>
        <p:spPr>
          <a:xfrm>
            <a:off x="3959280" y="238644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38"/>
          <p:cNvSpPr/>
          <p:nvPr/>
        </p:nvSpPr>
        <p:spPr>
          <a:xfrm>
            <a:off x="5321880" y="2313360"/>
            <a:ext cx="1461600" cy="41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39"/>
          <p:cNvSpPr/>
          <p:nvPr/>
        </p:nvSpPr>
        <p:spPr>
          <a:xfrm>
            <a:off x="5367600" y="2386440"/>
            <a:ext cx="1370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40"/>
          <p:cNvSpPr/>
          <p:nvPr/>
        </p:nvSpPr>
        <p:spPr>
          <a:xfrm>
            <a:off x="6821280" y="2313360"/>
            <a:ext cx="1553040" cy="41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41"/>
          <p:cNvSpPr/>
          <p:nvPr/>
        </p:nvSpPr>
        <p:spPr>
          <a:xfrm>
            <a:off x="6867000" y="2386440"/>
            <a:ext cx="1461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42"/>
          <p:cNvSpPr/>
          <p:nvPr/>
        </p:nvSpPr>
        <p:spPr>
          <a:xfrm>
            <a:off x="201240" y="2752200"/>
            <a:ext cx="2284560" cy="4100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43"/>
          <p:cNvSpPr/>
          <p:nvPr/>
        </p:nvSpPr>
        <p:spPr>
          <a:xfrm>
            <a:off x="246960" y="2825640"/>
            <a:ext cx="21931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2FA / TOTP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44"/>
          <p:cNvSpPr/>
          <p:nvPr/>
        </p:nvSpPr>
        <p:spPr>
          <a:xfrm>
            <a:off x="2514600" y="2752200"/>
            <a:ext cx="1370160" cy="41004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45"/>
          <p:cNvSpPr/>
          <p:nvPr/>
        </p:nvSpPr>
        <p:spPr>
          <a:xfrm>
            <a:off x="2560320" y="282564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46"/>
          <p:cNvSpPr/>
          <p:nvPr/>
        </p:nvSpPr>
        <p:spPr>
          <a:xfrm>
            <a:off x="3913560" y="2752200"/>
            <a:ext cx="1370160" cy="4100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47"/>
          <p:cNvSpPr/>
          <p:nvPr/>
        </p:nvSpPr>
        <p:spPr>
          <a:xfrm>
            <a:off x="3959280" y="282564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48"/>
          <p:cNvSpPr/>
          <p:nvPr/>
        </p:nvSpPr>
        <p:spPr>
          <a:xfrm>
            <a:off x="5321880" y="2752200"/>
            <a:ext cx="1461600" cy="4100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49"/>
          <p:cNvSpPr/>
          <p:nvPr/>
        </p:nvSpPr>
        <p:spPr>
          <a:xfrm>
            <a:off x="5367600" y="2825640"/>
            <a:ext cx="1370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50"/>
          <p:cNvSpPr/>
          <p:nvPr/>
        </p:nvSpPr>
        <p:spPr>
          <a:xfrm>
            <a:off x="6821280" y="2752200"/>
            <a:ext cx="1553040" cy="4100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51"/>
          <p:cNvSpPr/>
          <p:nvPr/>
        </p:nvSpPr>
        <p:spPr>
          <a:xfrm>
            <a:off x="6867000" y="2825640"/>
            <a:ext cx="1461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52"/>
          <p:cNvSpPr/>
          <p:nvPr/>
        </p:nvSpPr>
        <p:spPr>
          <a:xfrm>
            <a:off x="201240" y="3191400"/>
            <a:ext cx="2284560" cy="41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53"/>
          <p:cNvSpPr/>
          <p:nvPr/>
        </p:nvSpPr>
        <p:spPr>
          <a:xfrm>
            <a:off x="246960" y="3264480"/>
            <a:ext cx="21931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REST API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54"/>
          <p:cNvSpPr/>
          <p:nvPr/>
        </p:nvSpPr>
        <p:spPr>
          <a:xfrm>
            <a:off x="2514600" y="3191400"/>
            <a:ext cx="1370160" cy="41004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55"/>
          <p:cNvSpPr/>
          <p:nvPr/>
        </p:nvSpPr>
        <p:spPr>
          <a:xfrm>
            <a:off x="2560320" y="326448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56"/>
          <p:cNvSpPr/>
          <p:nvPr/>
        </p:nvSpPr>
        <p:spPr>
          <a:xfrm>
            <a:off x="3913560" y="3191400"/>
            <a:ext cx="1370160" cy="41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57"/>
          <p:cNvSpPr/>
          <p:nvPr/>
        </p:nvSpPr>
        <p:spPr>
          <a:xfrm>
            <a:off x="3959280" y="326448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58"/>
          <p:cNvSpPr/>
          <p:nvPr/>
        </p:nvSpPr>
        <p:spPr>
          <a:xfrm>
            <a:off x="5321880" y="3191400"/>
            <a:ext cx="1461600" cy="41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59"/>
          <p:cNvSpPr/>
          <p:nvPr/>
        </p:nvSpPr>
        <p:spPr>
          <a:xfrm>
            <a:off x="5367600" y="3264480"/>
            <a:ext cx="1370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60"/>
          <p:cNvSpPr/>
          <p:nvPr/>
        </p:nvSpPr>
        <p:spPr>
          <a:xfrm>
            <a:off x="6821280" y="3191400"/>
            <a:ext cx="1553040" cy="41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61"/>
          <p:cNvSpPr/>
          <p:nvPr/>
        </p:nvSpPr>
        <p:spPr>
          <a:xfrm>
            <a:off x="6867000" y="3264480"/>
            <a:ext cx="1461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62"/>
          <p:cNvSpPr/>
          <p:nvPr/>
        </p:nvSpPr>
        <p:spPr>
          <a:xfrm>
            <a:off x="201240" y="3630240"/>
            <a:ext cx="2284560" cy="4100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63"/>
          <p:cNvSpPr/>
          <p:nvPr/>
        </p:nvSpPr>
        <p:spPr>
          <a:xfrm>
            <a:off x="246960" y="3703320"/>
            <a:ext cx="21931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QR Provisioning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64"/>
          <p:cNvSpPr/>
          <p:nvPr/>
        </p:nvSpPr>
        <p:spPr>
          <a:xfrm>
            <a:off x="2514600" y="3630240"/>
            <a:ext cx="1370160" cy="41004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65"/>
          <p:cNvSpPr/>
          <p:nvPr/>
        </p:nvSpPr>
        <p:spPr>
          <a:xfrm>
            <a:off x="2560320" y="370332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66"/>
          <p:cNvSpPr/>
          <p:nvPr/>
        </p:nvSpPr>
        <p:spPr>
          <a:xfrm>
            <a:off x="3913560" y="3630240"/>
            <a:ext cx="1370160" cy="4100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67"/>
          <p:cNvSpPr/>
          <p:nvPr/>
        </p:nvSpPr>
        <p:spPr>
          <a:xfrm>
            <a:off x="3959280" y="370332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68"/>
          <p:cNvSpPr/>
          <p:nvPr/>
        </p:nvSpPr>
        <p:spPr>
          <a:xfrm>
            <a:off x="5321880" y="3630240"/>
            <a:ext cx="1461600" cy="4100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69"/>
          <p:cNvSpPr/>
          <p:nvPr/>
        </p:nvSpPr>
        <p:spPr>
          <a:xfrm>
            <a:off x="5367600" y="3703320"/>
            <a:ext cx="1370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70"/>
          <p:cNvSpPr/>
          <p:nvPr/>
        </p:nvSpPr>
        <p:spPr>
          <a:xfrm>
            <a:off x="6821280" y="3630240"/>
            <a:ext cx="1553040" cy="4100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71"/>
          <p:cNvSpPr/>
          <p:nvPr/>
        </p:nvSpPr>
        <p:spPr>
          <a:xfrm>
            <a:off x="6867000" y="3703320"/>
            <a:ext cx="1461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Manual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72"/>
          <p:cNvSpPr/>
          <p:nvPr/>
        </p:nvSpPr>
        <p:spPr>
          <a:xfrm>
            <a:off x="201240" y="4069080"/>
            <a:ext cx="2284560" cy="41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73"/>
          <p:cNvSpPr/>
          <p:nvPr/>
        </p:nvSpPr>
        <p:spPr>
          <a:xfrm>
            <a:off x="246960" y="4142160"/>
            <a:ext cx="21931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Cost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74"/>
          <p:cNvSpPr/>
          <p:nvPr/>
        </p:nvSpPr>
        <p:spPr>
          <a:xfrm>
            <a:off x="2514600" y="4069080"/>
            <a:ext cx="1370160" cy="41004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75"/>
          <p:cNvSpPr/>
          <p:nvPr/>
        </p:nvSpPr>
        <p:spPr>
          <a:xfrm>
            <a:off x="2560320" y="414216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Free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76"/>
          <p:cNvSpPr/>
          <p:nvPr/>
        </p:nvSpPr>
        <p:spPr>
          <a:xfrm>
            <a:off x="3913560" y="4069080"/>
            <a:ext cx="1370160" cy="41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77"/>
          <p:cNvSpPr/>
          <p:nvPr/>
        </p:nvSpPr>
        <p:spPr>
          <a:xfrm>
            <a:off x="3959280" y="414216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Free/Paid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78"/>
          <p:cNvSpPr/>
          <p:nvPr/>
        </p:nvSpPr>
        <p:spPr>
          <a:xfrm>
            <a:off x="5321880" y="4069080"/>
            <a:ext cx="1461600" cy="41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79"/>
          <p:cNvSpPr/>
          <p:nvPr/>
        </p:nvSpPr>
        <p:spPr>
          <a:xfrm>
            <a:off x="5367600" y="4142160"/>
            <a:ext cx="1370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Paid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80"/>
          <p:cNvSpPr/>
          <p:nvPr/>
        </p:nvSpPr>
        <p:spPr>
          <a:xfrm>
            <a:off x="6821280" y="4069080"/>
            <a:ext cx="1553040" cy="41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81"/>
          <p:cNvSpPr/>
          <p:nvPr/>
        </p:nvSpPr>
        <p:spPr>
          <a:xfrm>
            <a:off x="6867000" y="4142160"/>
            <a:ext cx="1461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Free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82"/>
          <p:cNvSpPr/>
          <p:nvPr/>
        </p:nvSpPr>
        <p:spPr>
          <a:xfrm>
            <a:off x="201240" y="4507920"/>
            <a:ext cx="2284560" cy="4100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83"/>
          <p:cNvSpPr/>
          <p:nvPr/>
        </p:nvSpPr>
        <p:spPr>
          <a:xfrm>
            <a:off x="246960" y="4581000"/>
            <a:ext cx="21931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Dedicated Hardware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84"/>
          <p:cNvSpPr/>
          <p:nvPr/>
        </p:nvSpPr>
        <p:spPr>
          <a:xfrm>
            <a:off x="2514600" y="4507920"/>
            <a:ext cx="1370160" cy="41004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85"/>
          <p:cNvSpPr/>
          <p:nvPr/>
        </p:nvSpPr>
        <p:spPr>
          <a:xfrm>
            <a:off x="2560320" y="458100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No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86"/>
          <p:cNvSpPr/>
          <p:nvPr/>
        </p:nvSpPr>
        <p:spPr>
          <a:xfrm>
            <a:off x="3913560" y="4507920"/>
            <a:ext cx="1370160" cy="4100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87"/>
          <p:cNvSpPr/>
          <p:nvPr/>
        </p:nvSpPr>
        <p:spPr>
          <a:xfrm>
            <a:off x="3959280" y="458100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Yes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88"/>
          <p:cNvSpPr/>
          <p:nvPr/>
        </p:nvSpPr>
        <p:spPr>
          <a:xfrm>
            <a:off x="5321880" y="4507920"/>
            <a:ext cx="1461600" cy="4100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89"/>
          <p:cNvSpPr/>
          <p:nvPr/>
        </p:nvSpPr>
        <p:spPr>
          <a:xfrm>
            <a:off x="5367600" y="4581000"/>
            <a:ext cx="1370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Depends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90"/>
          <p:cNvSpPr/>
          <p:nvPr/>
        </p:nvSpPr>
        <p:spPr>
          <a:xfrm>
            <a:off x="6821280" y="4507920"/>
            <a:ext cx="1553040" cy="4100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91"/>
          <p:cNvSpPr/>
          <p:nvPr/>
        </p:nvSpPr>
        <p:spPr>
          <a:xfrm>
            <a:off x="6867000" y="4581000"/>
            <a:ext cx="1461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59669"/>
                </a:solidFill>
                <a:effectLst/>
                <a:uFillTx/>
                <a:latin typeface="Calibri"/>
                <a:ea typeface="Calibri"/>
              </a:rPr>
              <a:t>No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67"/>
          <p:cNvSpPr/>
          <p:nvPr/>
        </p:nvSpPr>
        <p:spPr>
          <a:xfrm>
            <a:off x="0" y="0"/>
            <a:ext cx="9142560" cy="821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90"/>
          <p:cNvSpPr/>
          <p:nvPr/>
        </p:nvSpPr>
        <p:spPr>
          <a:xfrm>
            <a:off x="457200" y="13716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IMPLEMENTATION &amp; OUTPUT SCREENS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69"/>
          <p:cNvSpPr/>
          <p:nvPr/>
        </p:nvSpPr>
        <p:spPr>
          <a:xfrm>
            <a:off x="135720" y="896760"/>
            <a:ext cx="8797680" cy="4124520"/>
          </a:xfrm>
          <a:prstGeom prst="roundRect">
            <a:avLst>
              <a:gd name="adj" fmla="val 4762"/>
            </a:avLst>
          </a:prstGeom>
          <a:solidFill>
            <a:srgbClr val="0F2642"/>
          </a:solidFill>
          <a:ln w="12700">
            <a:solidFill>
              <a:srgbClr val="0E7490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71"/>
          <p:cNvSpPr/>
          <p:nvPr/>
        </p:nvSpPr>
        <p:spPr>
          <a:xfrm>
            <a:off x="933120" y="1008000"/>
            <a:ext cx="7165800" cy="3238920"/>
          </a:xfrm>
          <a:prstGeom prst="roundRect">
            <a:avLst>
              <a:gd name="adj" fmla="val 4444"/>
            </a:avLst>
          </a:prstGeom>
          <a:solidFill>
            <a:srgbClr val="1E3A5F">
              <a:alpha val="80000"/>
            </a:srgbClr>
          </a:solidFill>
          <a:ln w="6350">
            <a:solidFill>
              <a:srgbClr val="7DD3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92"/>
          <p:cNvSpPr/>
          <p:nvPr/>
        </p:nvSpPr>
        <p:spPr>
          <a:xfrm>
            <a:off x="338400" y="141732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93"/>
          <p:cNvSpPr/>
          <p:nvPr/>
        </p:nvSpPr>
        <p:spPr>
          <a:xfrm>
            <a:off x="3361680" y="43340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Admin Dashboard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94"/>
          <p:cNvSpPr/>
          <p:nvPr/>
        </p:nvSpPr>
        <p:spPr>
          <a:xfrm>
            <a:off x="720000" y="4500000"/>
            <a:ext cx="79189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Centralized control panel showing peer status, firewall rules, and traffic metrics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98"/>
          <p:cNvSpPr/>
          <p:nvPr/>
        </p:nvSpPr>
        <p:spPr>
          <a:xfrm>
            <a:off x="6282000" y="141732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99"/>
          <p:cNvSpPr/>
          <p:nvPr/>
        </p:nvSpPr>
        <p:spPr>
          <a:xfrm>
            <a:off x="6236280" y="234072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01"/>
          <p:cNvSpPr/>
          <p:nvPr/>
        </p:nvSpPr>
        <p:spPr>
          <a:xfrm>
            <a:off x="3384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03"/>
          <p:cNvSpPr/>
          <p:nvPr/>
        </p:nvSpPr>
        <p:spPr>
          <a:xfrm>
            <a:off x="292680" y="4663440"/>
            <a:ext cx="25772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04"/>
          <p:cNvSpPr/>
          <p:nvPr/>
        </p:nvSpPr>
        <p:spPr>
          <a:xfrm>
            <a:off x="33102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05"/>
          <p:cNvSpPr/>
          <p:nvPr/>
        </p:nvSpPr>
        <p:spPr>
          <a:xfrm>
            <a:off x="3264480" y="44258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07"/>
          <p:cNvSpPr/>
          <p:nvPr/>
        </p:nvSpPr>
        <p:spPr>
          <a:xfrm>
            <a:off x="62820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08"/>
          <p:cNvSpPr/>
          <p:nvPr/>
        </p:nvSpPr>
        <p:spPr>
          <a:xfrm>
            <a:off x="6236280" y="44258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2" name=""/>
          <p:cNvPicPr/>
          <p:nvPr/>
        </p:nvPicPr>
        <p:blipFill>
          <a:blip r:embed="rId1"/>
          <a:stretch/>
        </p:blipFill>
        <p:spPr>
          <a:xfrm>
            <a:off x="1044000" y="1044000"/>
            <a:ext cx="6936120" cy="316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73"/>
          <p:cNvSpPr/>
          <p:nvPr/>
        </p:nvSpPr>
        <p:spPr>
          <a:xfrm>
            <a:off x="0" y="0"/>
            <a:ext cx="9142560" cy="821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95"/>
          <p:cNvSpPr/>
          <p:nvPr/>
        </p:nvSpPr>
        <p:spPr>
          <a:xfrm>
            <a:off x="457200" y="13716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IMPLEMENTATION &amp; OUTPUT SCREENS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75"/>
          <p:cNvSpPr/>
          <p:nvPr/>
        </p:nvSpPr>
        <p:spPr>
          <a:xfrm>
            <a:off x="135720" y="896760"/>
            <a:ext cx="8797680" cy="4124520"/>
          </a:xfrm>
          <a:prstGeom prst="roundRect">
            <a:avLst>
              <a:gd name="adj" fmla="val 4762"/>
            </a:avLst>
          </a:prstGeom>
          <a:solidFill>
            <a:srgbClr val="0F2642"/>
          </a:solidFill>
          <a:ln w="12700">
            <a:solidFill>
              <a:srgbClr val="0E7490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77"/>
          <p:cNvSpPr/>
          <p:nvPr/>
        </p:nvSpPr>
        <p:spPr>
          <a:xfrm>
            <a:off x="933120" y="1008000"/>
            <a:ext cx="7165800" cy="3238920"/>
          </a:xfrm>
          <a:prstGeom prst="roundRect">
            <a:avLst>
              <a:gd name="adj" fmla="val 4444"/>
            </a:avLst>
          </a:prstGeom>
          <a:solidFill>
            <a:srgbClr val="1E3A5F">
              <a:alpha val="80000"/>
            </a:srgbClr>
          </a:solidFill>
          <a:ln w="6350">
            <a:solidFill>
              <a:srgbClr val="7DD3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96"/>
          <p:cNvSpPr/>
          <p:nvPr/>
        </p:nvSpPr>
        <p:spPr>
          <a:xfrm>
            <a:off x="338400" y="141732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97"/>
          <p:cNvSpPr/>
          <p:nvPr/>
        </p:nvSpPr>
        <p:spPr>
          <a:xfrm>
            <a:off x="3361680" y="43340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Firewall Panel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00"/>
          <p:cNvSpPr/>
          <p:nvPr/>
        </p:nvSpPr>
        <p:spPr>
          <a:xfrm>
            <a:off x="720000" y="4500000"/>
            <a:ext cx="79189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Dynamic iptables rule management with add/delete controls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02"/>
          <p:cNvSpPr/>
          <p:nvPr/>
        </p:nvSpPr>
        <p:spPr>
          <a:xfrm>
            <a:off x="6282000" y="141732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06"/>
          <p:cNvSpPr/>
          <p:nvPr/>
        </p:nvSpPr>
        <p:spPr>
          <a:xfrm>
            <a:off x="6236280" y="234072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09"/>
          <p:cNvSpPr/>
          <p:nvPr/>
        </p:nvSpPr>
        <p:spPr>
          <a:xfrm>
            <a:off x="3384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10"/>
          <p:cNvSpPr/>
          <p:nvPr/>
        </p:nvSpPr>
        <p:spPr>
          <a:xfrm>
            <a:off x="292680" y="4663440"/>
            <a:ext cx="25772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11"/>
          <p:cNvSpPr/>
          <p:nvPr/>
        </p:nvSpPr>
        <p:spPr>
          <a:xfrm>
            <a:off x="33102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112"/>
          <p:cNvSpPr/>
          <p:nvPr/>
        </p:nvSpPr>
        <p:spPr>
          <a:xfrm>
            <a:off x="3264480" y="44258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13"/>
          <p:cNvSpPr/>
          <p:nvPr/>
        </p:nvSpPr>
        <p:spPr>
          <a:xfrm>
            <a:off x="62820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14"/>
          <p:cNvSpPr/>
          <p:nvPr/>
        </p:nvSpPr>
        <p:spPr>
          <a:xfrm>
            <a:off x="6236280" y="44258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8" name=""/>
          <p:cNvPicPr/>
          <p:nvPr/>
        </p:nvPicPr>
        <p:blipFill>
          <a:blip r:embed="rId1"/>
          <a:stretch/>
        </p:blipFill>
        <p:spPr>
          <a:xfrm>
            <a:off x="1116000" y="1076760"/>
            <a:ext cx="6838920" cy="3134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79"/>
          <p:cNvSpPr/>
          <p:nvPr/>
        </p:nvSpPr>
        <p:spPr>
          <a:xfrm>
            <a:off x="0" y="0"/>
            <a:ext cx="9142560" cy="821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15"/>
          <p:cNvSpPr/>
          <p:nvPr/>
        </p:nvSpPr>
        <p:spPr>
          <a:xfrm>
            <a:off x="457200" y="13716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IMPLEMENTATION &amp; OUTPUT SCREENS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81"/>
          <p:cNvSpPr/>
          <p:nvPr/>
        </p:nvSpPr>
        <p:spPr>
          <a:xfrm>
            <a:off x="135720" y="896760"/>
            <a:ext cx="8797680" cy="4124520"/>
          </a:xfrm>
          <a:prstGeom prst="roundRect">
            <a:avLst>
              <a:gd name="adj" fmla="val 4762"/>
            </a:avLst>
          </a:prstGeom>
          <a:solidFill>
            <a:srgbClr val="0F2642"/>
          </a:solidFill>
          <a:ln w="12700">
            <a:solidFill>
              <a:srgbClr val="0E7490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83"/>
          <p:cNvSpPr/>
          <p:nvPr/>
        </p:nvSpPr>
        <p:spPr>
          <a:xfrm>
            <a:off x="933120" y="1008000"/>
            <a:ext cx="7165800" cy="3238920"/>
          </a:xfrm>
          <a:prstGeom prst="roundRect">
            <a:avLst>
              <a:gd name="adj" fmla="val 4444"/>
            </a:avLst>
          </a:prstGeom>
          <a:solidFill>
            <a:srgbClr val="1E3A5F">
              <a:alpha val="80000"/>
            </a:srgbClr>
          </a:solidFill>
          <a:ln w="6350">
            <a:solidFill>
              <a:srgbClr val="7DD3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116"/>
          <p:cNvSpPr/>
          <p:nvPr/>
        </p:nvSpPr>
        <p:spPr>
          <a:xfrm>
            <a:off x="338400" y="141732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17"/>
          <p:cNvSpPr/>
          <p:nvPr/>
        </p:nvSpPr>
        <p:spPr>
          <a:xfrm>
            <a:off x="3361680" y="43340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VPN Device Management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118"/>
          <p:cNvSpPr/>
          <p:nvPr/>
        </p:nvSpPr>
        <p:spPr>
          <a:xfrm>
            <a:off x="720000" y="4500000"/>
            <a:ext cx="79189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User self-service portal for registering and managing VPN peers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119"/>
          <p:cNvSpPr/>
          <p:nvPr/>
        </p:nvSpPr>
        <p:spPr>
          <a:xfrm>
            <a:off x="6282000" y="141732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20"/>
          <p:cNvSpPr/>
          <p:nvPr/>
        </p:nvSpPr>
        <p:spPr>
          <a:xfrm>
            <a:off x="6236280" y="234072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21"/>
          <p:cNvSpPr/>
          <p:nvPr/>
        </p:nvSpPr>
        <p:spPr>
          <a:xfrm>
            <a:off x="3384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22"/>
          <p:cNvSpPr/>
          <p:nvPr/>
        </p:nvSpPr>
        <p:spPr>
          <a:xfrm>
            <a:off x="292680" y="4663440"/>
            <a:ext cx="25772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23"/>
          <p:cNvSpPr/>
          <p:nvPr/>
        </p:nvSpPr>
        <p:spPr>
          <a:xfrm>
            <a:off x="33102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24"/>
          <p:cNvSpPr/>
          <p:nvPr/>
        </p:nvSpPr>
        <p:spPr>
          <a:xfrm>
            <a:off x="3264480" y="44258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25"/>
          <p:cNvSpPr/>
          <p:nvPr/>
        </p:nvSpPr>
        <p:spPr>
          <a:xfrm>
            <a:off x="62820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26"/>
          <p:cNvSpPr/>
          <p:nvPr/>
        </p:nvSpPr>
        <p:spPr>
          <a:xfrm>
            <a:off x="6236280" y="44258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4" name=""/>
          <p:cNvPicPr/>
          <p:nvPr/>
        </p:nvPicPr>
        <p:blipFill>
          <a:blip r:embed="rId1"/>
          <a:stretch/>
        </p:blipFill>
        <p:spPr>
          <a:xfrm>
            <a:off x="1080000" y="1080000"/>
            <a:ext cx="6838920" cy="3099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Shape 85"/>
          <p:cNvSpPr/>
          <p:nvPr/>
        </p:nvSpPr>
        <p:spPr>
          <a:xfrm>
            <a:off x="0" y="0"/>
            <a:ext cx="9142560" cy="821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27"/>
          <p:cNvSpPr/>
          <p:nvPr/>
        </p:nvSpPr>
        <p:spPr>
          <a:xfrm>
            <a:off x="457200" y="13716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IMPLEMENTATION &amp; OUTPUT SCREENS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87"/>
          <p:cNvSpPr/>
          <p:nvPr/>
        </p:nvSpPr>
        <p:spPr>
          <a:xfrm>
            <a:off x="135720" y="896760"/>
            <a:ext cx="8797680" cy="4124520"/>
          </a:xfrm>
          <a:prstGeom prst="roundRect">
            <a:avLst>
              <a:gd name="adj" fmla="val 4762"/>
            </a:avLst>
          </a:prstGeom>
          <a:solidFill>
            <a:srgbClr val="0F2642"/>
          </a:solidFill>
          <a:ln w="12700">
            <a:solidFill>
              <a:srgbClr val="0E7490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89"/>
          <p:cNvSpPr/>
          <p:nvPr/>
        </p:nvSpPr>
        <p:spPr>
          <a:xfrm>
            <a:off x="933120" y="1008000"/>
            <a:ext cx="7165800" cy="3238920"/>
          </a:xfrm>
          <a:prstGeom prst="roundRect">
            <a:avLst>
              <a:gd name="adj" fmla="val 4444"/>
            </a:avLst>
          </a:prstGeom>
          <a:solidFill>
            <a:srgbClr val="1E3A5F">
              <a:alpha val="80000"/>
            </a:srgbClr>
          </a:solidFill>
          <a:ln w="6350">
            <a:solidFill>
              <a:srgbClr val="7DD3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28"/>
          <p:cNvSpPr/>
          <p:nvPr/>
        </p:nvSpPr>
        <p:spPr>
          <a:xfrm>
            <a:off x="338400" y="141732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129"/>
          <p:cNvSpPr/>
          <p:nvPr/>
        </p:nvSpPr>
        <p:spPr>
          <a:xfrm>
            <a:off x="3361680" y="43340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WireGuard Config &amp; QR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30"/>
          <p:cNvSpPr/>
          <p:nvPr/>
        </p:nvSpPr>
        <p:spPr>
          <a:xfrm>
            <a:off x="720000" y="4500000"/>
            <a:ext cx="79189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Auto-generated config file and QR code for zero-touch mobile provisioning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31"/>
          <p:cNvSpPr/>
          <p:nvPr/>
        </p:nvSpPr>
        <p:spPr>
          <a:xfrm>
            <a:off x="6282000" y="141732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132"/>
          <p:cNvSpPr/>
          <p:nvPr/>
        </p:nvSpPr>
        <p:spPr>
          <a:xfrm>
            <a:off x="6236280" y="234072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33"/>
          <p:cNvSpPr/>
          <p:nvPr/>
        </p:nvSpPr>
        <p:spPr>
          <a:xfrm>
            <a:off x="3384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34"/>
          <p:cNvSpPr/>
          <p:nvPr/>
        </p:nvSpPr>
        <p:spPr>
          <a:xfrm>
            <a:off x="292680" y="4663440"/>
            <a:ext cx="25772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135"/>
          <p:cNvSpPr/>
          <p:nvPr/>
        </p:nvSpPr>
        <p:spPr>
          <a:xfrm>
            <a:off x="33102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136"/>
          <p:cNvSpPr/>
          <p:nvPr/>
        </p:nvSpPr>
        <p:spPr>
          <a:xfrm>
            <a:off x="3264480" y="44258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137"/>
          <p:cNvSpPr/>
          <p:nvPr/>
        </p:nvSpPr>
        <p:spPr>
          <a:xfrm>
            <a:off x="62820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138"/>
          <p:cNvSpPr/>
          <p:nvPr/>
        </p:nvSpPr>
        <p:spPr>
          <a:xfrm>
            <a:off x="6236280" y="44258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0" name=""/>
          <p:cNvPicPr/>
          <p:nvPr/>
        </p:nvPicPr>
        <p:blipFill>
          <a:blip r:embed="rId1"/>
          <a:stretch/>
        </p:blipFill>
        <p:spPr>
          <a:xfrm>
            <a:off x="1116000" y="1116000"/>
            <a:ext cx="6838920" cy="305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Shape 91"/>
          <p:cNvSpPr/>
          <p:nvPr/>
        </p:nvSpPr>
        <p:spPr>
          <a:xfrm>
            <a:off x="0" y="0"/>
            <a:ext cx="9142560" cy="821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39"/>
          <p:cNvSpPr/>
          <p:nvPr/>
        </p:nvSpPr>
        <p:spPr>
          <a:xfrm>
            <a:off x="457200" y="13716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IMPLEMENTATION &amp; OUTPUT SCREENS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92"/>
          <p:cNvSpPr/>
          <p:nvPr/>
        </p:nvSpPr>
        <p:spPr>
          <a:xfrm>
            <a:off x="135720" y="896760"/>
            <a:ext cx="8797680" cy="4124520"/>
          </a:xfrm>
          <a:prstGeom prst="roundRect">
            <a:avLst>
              <a:gd name="adj" fmla="val 4762"/>
            </a:avLst>
          </a:prstGeom>
          <a:solidFill>
            <a:srgbClr val="0F2642"/>
          </a:solidFill>
          <a:ln w="12700">
            <a:solidFill>
              <a:srgbClr val="0E7490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93"/>
          <p:cNvSpPr/>
          <p:nvPr/>
        </p:nvSpPr>
        <p:spPr>
          <a:xfrm>
            <a:off x="933120" y="1008000"/>
            <a:ext cx="7165800" cy="3238920"/>
          </a:xfrm>
          <a:prstGeom prst="roundRect">
            <a:avLst>
              <a:gd name="adj" fmla="val 4444"/>
            </a:avLst>
          </a:prstGeom>
          <a:solidFill>
            <a:srgbClr val="1E3A5F">
              <a:alpha val="80000"/>
            </a:srgbClr>
          </a:solidFill>
          <a:ln w="6350">
            <a:solidFill>
              <a:srgbClr val="7DD3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40"/>
          <p:cNvSpPr/>
          <p:nvPr/>
        </p:nvSpPr>
        <p:spPr>
          <a:xfrm>
            <a:off x="338400" y="141732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41"/>
          <p:cNvSpPr/>
          <p:nvPr/>
        </p:nvSpPr>
        <p:spPr>
          <a:xfrm>
            <a:off x="3361680" y="43340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VPN Connection Status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42"/>
          <p:cNvSpPr/>
          <p:nvPr/>
        </p:nvSpPr>
        <p:spPr>
          <a:xfrm>
            <a:off x="720000" y="4500000"/>
            <a:ext cx="79189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Real-time handshake timestamps, bytes transferred, and online/offline status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143"/>
          <p:cNvSpPr/>
          <p:nvPr/>
        </p:nvSpPr>
        <p:spPr>
          <a:xfrm>
            <a:off x="6282000" y="141732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44"/>
          <p:cNvSpPr/>
          <p:nvPr/>
        </p:nvSpPr>
        <p:spPr>
          <a:xfrm>
            <a:off x="6236280" y="234072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45"/>
          <p:cNvSpPr/>
          <p:nvPr/>
        </p:nvSpPr>
        <p:spPr>
          <a:xfrm>
            <a:off x="3384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46"/>
          <p:cNvSpPr/>
          <p:nvPr/>
        </p:nvSpPr>
        <p:spPr>
          <a:xfrm>
            <a:off x="292680" y="4663440"/>
            <a:ext cx="25772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147"/>
          <p:cNvSpPr/>
          <p:nvPr/>
        </p:nvSpPr>
        <p:spPr>
          <a:xfrm>
            <a:off x="33102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48"/>
          <p:cNvSpPr/>
          <p:nvPr/>
        </p:nvSpPr>
        <p:spPr>
          <a:xfrm>
            <a:off x="3264480" y="44258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49"/>
          <p:cNvSpPr/>
          <p:nvPr/>
        </p:nvSpPr>
        <p:spPr>
          <a:xfrm>
            <a:off x="62820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150"/>
          <p:cNvSpPr/>
          <p:nvPr/>
        </p:nvSpPr>
        <p:spPr>
          <a:xfrm>
            <a:off x="6236280" y="44258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6" name=""/>
          <p:cNvPicPr/>
          <p:nvPr/>
        </p:nvPicPr>
        <p:blipFill>
          <a:blip r:embed="rId1"/>
          <a:stretch/>
        </p:blipFill>
        <p:spPr>
          <a:xfrm>
            <a:off x="1163160" y="1080000"/>
            <a:ext cx="6755760" cy="309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Shape 94"/>
          <p:cNvSpPr/>
          <p:nvPr/>
        </p:nvSpPr>
        <p:spPr>
          <a:xfrm>
            <a:off x="0" y="0"/>
            <a:ext cx="9142560" cy="821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169"/>
          <p:cNvSpPr/>
          <p:nvPr/>
        </p:nvSpPr>
        <p:spPr>
          <a:xfrm>
            <a:off x="457200" y="13716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IMPLEMENTATION &amp; OUTPUT SCREENS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47"/>
          <p:cNvSpPr/>
          <p:nvPr/>
        </p:nvSpPr>
        <p:spPr>
          <a:xfrm>
            <a:off x="135720" y="896760"/>
            <a:ext cx="8797680" cy="4124520"/>
          </a:xfrm>
          <a:prstGeom prst="roundRect">
            <a:avLst>
              <a:gd name="adj" fmla="val 4762"/>
            </a:avLst>
          </a:prstGeom>
          <a:solidFill>
            <a:srgbClr val="0F2642"/>
          </a:solidFill>
          <a:ln w="12700">
            <a:solidFill>
              <a:srgbClr val="0E7490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49"/>
          <p:cNvSpPr/>
          <p:nvPr/>
        </p:nvSpPr>
        <p:spPr>
          <a:xfrm>
            <a:off x="933120" y="1008000"/>
            <a:ext cx="7165800" cy="3238920"/>
          </a:xfrm>
          <a:prstGeom prst="roundRect">
            <a:avLst>
              <a:gd name="adj" fmla="val 4444"/>
            </a:avLst>
          </a:prstGeom>
          <a:solidFill>
            <a:srgbClr val="1E3A5F">
              <a:alpha val="80000"/>
            </a:srgbClr>
          </a:solidFill>
          <a:ln w="6350">
            <a:solidFill>
              <a:srgbClr val="7DD3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70"/>
          <p:cNvSpPr/>
          <p:nvPr/>
        </p:nvSpPr>
        <p:spPr>
          <a:xfrm>
            <a:off x="338400" y="141732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171"/>
          <p:cNvSpPr/>
          <p:nvPr/>
        </p:nvSpPr>
        <p:spPr>
          <a:xfrm>
            <a:off x="3361680" y="43340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IP Address Allocation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172"/>
          <p:cNvSpPr/>
          <p:nvPr/>
        </p:nvSpPr>
        <p:spPr>
          <a:xfrm>
            <a:off x="720000" y="4500000"/>
            <a:ext cx="79189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Automated CIDR-aware sequential IP assignment with MongoDB persistence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73"/>
          <p:cNvSpPr/>
          <p:nvPr/>
        </p:nvSpPr>
        <p:spPr>
          <a:xfrm>
            <a:off x="6282000" y="141732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174"/>
          <p:cNvSpPr/>
          <p:nvPr/>
        </p:nvSpPr>
        <p:spPr>
          <a:xfrm>
            <a:off x="6236280" y="234072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75"/>
          <p:cNvSpPr/>
          <p:nvPr/>
        </p:nvSpPr>
        <p:spPr>
          <a:xfrm>
            <a:off x="3384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176"/>
          <p:cNvSpPr/>
          <p:nvPr/>
        </p:nvSpPr>
        <p:spPr>
          <a:xfrm>
            <a:off x="292680" y="4663440"/>
            <a:ext cx="25772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177"/>
          <p:cNvSpPr/>
          <p:nvPr/>
        </p:nvSpPr>
        <p:spPr>
          <a:xfrm>
            <a:off x="33102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178"/>
          <p:cNvSpPr/>
          <p:nvPr/>
        </p:nvSpPr>
        <p:spPr>
          <a:xfrm>
            <a:off x="3264480" y="44258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179"/>
          <p:cNvSpPr/>
          <p:nvPr/>
        </p:nvSpPr>
        <p:spPr>
          <a:xfrm>
            <a:off x="62820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180"/>
          <p:cNvSpPr/>
          <p:nvPr/>
        </p:nvSpPr>
        <p:spPr>
          <a:xfrm>
            <a:off x="6236280" y="44258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2" name=""/>
          <p:cNvPicPr/>
          <p:nvPr/>
        </p:nvPicPr>
        <p:blipFill>
          <a:blip r:embed="rId1"/>
          <a:stretch/>
        </p:blipFill>
        <p:spPr>
          <a:xfrm>
            <a:off x="1080000" y="1088280"/>
            <a:ext cx="6838920" cy="3050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ext 2"/>
          <p:cNvSpPr/>
          <p:nvPr/>
        </p:nvSpPr>
        <p:spPr>
          <a:xfrm>
            <a:off x="457200" y="255960"/>
            <a:ext cx="8228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6B6D4"/>
                </a:solidFill>
                <a:effectLst/>
                <a:uFillTx/>
                <a:latin typeface="Cambria"/>
                <a:ea typeface="Cambria"/>
              </a:rPr>
              <a:t>CONCLUSION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3"/>
          <p:cNvSpPr/>
          <p:nvPr/>
        </p:nvSpPr>
        <p:spPr>
          <a:xfrm>
            <a:off x="457200" y="795600"/>
            <a:ext cx="8228160" cy="35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4"/>
          <p:cNvSpPr/>
          <p:nvPr/>
        </p:nvSpPr>
        <p:spPr>
          <a:xfrm>
            <a:off x="320040" y="914400"/>
            <a:ext cx="8502480" cy="592920"/>
          </a:xfrm>
          <a:prstGeom prst="roundRect">
            <a:avLst>
              <a:gd name="adj" fmla="val 12308"/>
            </a:avLst>
          </a:prstGeom>
          <a:solidFill>
            <a:srgbClr val="0F2642">
              <a:alpha val="90000"/>
            </a:srgbClr>
          </a:solidFill>
          <a:ln w="1016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5"/>
          <p:cNvSpPr/>
          <p:nvPr/>
        </p:nvSpPr>
        <p:spPr>
          <a:xfrm>
            <a:off x="457200" y="969120"/>
            <a:ext cx="822816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SunduVault successfully integrates iptables firewall and WireGuard VPN into a single unified administrative platform.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6"/>
          <p:cNvSpPr/>
          <p:nvPr/>
        </p:nvSpPr>
        <p:spPr>
          <a:xfrm>
            <a:off x="320040" y="1581840"/>
            <a:ext cx="8502480" cy="592920"/>
          </a:xfrm>
          <a:prstGeom prst="roundRect">
            <a:avLst>
              <a:gd name="adj" fmla="val 12308"/>
            </a:avLst>
          </a:prstGeom>
          <a:solidFill>
            <a:srgbClr val="0F2642">
              <a:alpha val="90000"/>
            </a:srgbClr>
          </a:solidFill>
          <a:ln w="1016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7"/>
          <p:cNvSpPr/>
          <p:nvPr/>
        </p:nvSpPr>
        <p:spPr>
          <a:xfrm>
            <a:off x="457200" y="1636920"/>
            <a:ext cx="822816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 framework achieves enterprise-grade network security using 100% open-source, commodity Linux hardware—eliminating costly </a:t>
            </a: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proprietary appliances.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8"/>
          <p:cNvSpPr/>
          <p:nvPr/>
        </p:nvSpPr>
        <p:spPr>
          <a:xfrm>
            <a:off x="320040" y="2249280"/>
            <a:ext cx="8502480" cy="592920"/>
          </a:xfrm>
          <a:prstGeom prst="roundRect">
            <a:avLst>
              <a:gd name="adj" fmla="val 12308"/>
            </a:avLst>
          </a:prstGeom>
          <a:solidFill>
            <a:srgbClr val="0F2642">
              <a:alpha val="90000"/>
            </a:srgbClr>
          </a:solidFill>
          <a:ln w="1016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9"/>
          <p:cNvSpPr/>
          <p:nvPr/>
        </p:nvSpPr>
        <p:spPr>
          <a:xfrm>
            <a:off x="457200" y="2304360"/>
            <a:ext cx="822816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Performance validated: API response &lt;200ms at 100 concurrent users, VPN handshake at 1.4ms, throughput exceeding 871 Mbps.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10"/>
          <p:cNvSpPr/>
          <p:nvPr/>
        </p:nvSpPr>
        <p:spPr>
          <a:xfrm>
            <a:off x="320040" y="2917080"/>
            <a:ext cx="8502480" cy="592920"/>
          </a:xfrm>
          <a:prstGeom prst="roundRect">
            <a:avLst>
              <a:gd name="adj" fmla="val 12308"/>
            </a:avLst>
          </a:prstGeom>
          <a:solidFill>
            <a:srgbClr val="0F2642">
              <a:alpha val="90000"/>
            </a:srgbClr>
          </a:solidFill>
          <a:ln w="1016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1"/>
          <p:cNvSpPr/>
          <p:nvPr/>
        </p:nvSpPr>
        <p:spPr>
          <a:xfrm>
            <a:off x="457200" y="2971800"/>
            <a:ext cx="822816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Security validated: 15/15 attack scenarios mitigated, 85%+ reduction in unauthorized access, all VPN traffic fully encrypted.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12"/>
          <p:cNvSpPr/>
          <p:nvPr/>
        </p:nvSpPr>
        <p:spPr>
          <a:xfrm>
            <a:off x="320040" y="3584520"/>
            <a:ext cx="8502480" cy="592920"/>
          </a:xfrm>
          <a:prstGeom prst="roundRect">
            <a:avLst>
              <a:gd name="adj" fmla="val 12308"/>
            </a:avLst>
          </a:prstGeom>
          <a:solidFill>
            <a:srgbClr val="0F2642">
              <a:alpha val="90000"/>
            </a:srgbClr>
          </a:solidFill>
          <a:ln w="1016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13"/>
          <p:cNvSpPr/>
          <p:nvPr/>
        </p:nvSpPr>
        <p:spPr>
          <a:xfrm>
            <a:off x="457200" y="3639240"/>
            <a:ext cx="822816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Five functional modules—Auth/RBAC, WireGuard Management, Firewall Management, IP Management, and Real-Time Monitoring— </a:t>
            </a: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operate cohesively.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14"/>
          <p:cNvSpPr/>
          <p:nvPr/>
        </p:nvSpPr>
        <p:spPr>
          <a:xfrm>
            <a:off x="320040" y="4251960"/>
            <a:ext cx="8502480" cy="592920"/>
          </a:xfrm>
          <a:prstGeom prst="roundRect">
            <a:avLst>
              <a:gd name="adj" fmla="val 12308"/>
            </a:avLst>
          </a:prstGeom>
          <a:solidFill>
            <a:srgbClr val="0F2642">
              <a:alpha val="90000"/>
            </a:srgbClr>
          </a:solidFill>
          <a:ln w="1016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15"/>
          <p:cNvSpPr/>
          <p:nvPr/>
        </p:nvSpPr>
        <p:spPr>
          <a:xfrm>
            <a:off x="457200" y="4306680"/>
            <a:ext cx="822816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 API-first design facilitates future extensions to SIEM integration, multi-WAN support, and third-party orchestration tools.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Shape 1"/>
          <p:cNvSpPr/>
          <p:nvPr/>
        </p:nvSpPr>
        <p:spPr>
          <a:xfrm>
            <a:off x="0" y="0"/>
            <a:ext cx="9142560" cy="821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151"/>
          <p:cNvSpPr/>
          <p:nvPr/>
        </p:nvSpPr>
        <p:spPr>
          <a:xfrm>
            <a:off x="457200" y="13716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CERTIFICATE OF PUBLICATION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53"/>
          <p:cNvSpPr/>
          <p:nvPr/>
        </p:nvSpPr>
        <p:spPr>
          <a:xfrm>
            <a:off x="1080000" y="896760"/>
            <a:ext cx="7200000" cy="4124520"/>
          </a:xfrm>
          <a:prstGeom prst="roundRect">
            <a:avLst>
              <a:gd name="adj" fmla="val 4762"/>
            </a:avLst>
          </a:prstGeom>
          <a:solidFill>
            <a:srgbClr val="0F2642"/>
          </a:solidFill>
          <a:ln w="12700">
            <a:solidFill>
              <a:srgbClr val="0E7490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52"/>
          <p:cNvSpPr/>
          <p:nvPr/>
        </p:nvSpPr>
        <p:spPr>
          <a:xfrm>
            <a:off x="338400" y="141732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53"/>
          <p:cNvSpPr/>
          <p:nvPr/>
        </p:nvSpPr>
        <p:spPr>
          <a:xfrm>
            <a:off x="3361680" y="43340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IP Address Allocation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54"/>
          <p:cNvSpPr/>
          <p:nvPr/>
        </p:nvSpPr>
        <p:spPr>
          <a:xfrm>
            <a:off x="720000" y="4500000"/>
            <a:ext cx="79189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55"/>
          <p:cNvSpPr/>
          <p:nvPr/>
        </p:nvSpPr>
        <p:spPr>
          <a:xfrm>
            <a:off x="6282000" y="141732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56"/>
          <p:cNvSpPr/>
          <p:nvPr/>
        </p:nvSpPr>
        <p:spPr>
          <a:xfrm>
            <a:off x="6236280" y="234072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157"/>
          <p:cNvSpPr/>
          <p:nvPr/>
        </p:nvSpPr>
        <p:spPr>
          <a:xfrm>
            <a:off x="3384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58"/>
          <p:cNvSpPr/>
          <p:nvPr/>
        </p:nvSpPr>
        <p:spPr>
          <a:xfrm>
            <a:off x="292680" y="4663440"/>
            <a:ext cx="25772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59"/>
          <p:cNvSpPr/>
          <p:nvPr/>
        </p:nvSpPr>
        <p:spPr>
          <a:xfrm>
            <a:off x="33102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60"/>
          <p:cNvSpPr/>
          <p:nvPr/>
        </p:nvSpPr>
        <p:spPr>
          <a:xfrm>
            <a:off x="3264480" y="44258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161"/>
          <p:cNvSpPr/>
          <p:nvPr/>
        </p:nvSpPr>
        <p:spPr>
          <a:xfrm>
            <a:off x="62820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162"/>
          <p:cNvSpPr/>
          <p:nvPr/>
        </p:nvSpPr>
        <p:spPr>
          <a:xfrm>
            <a:off x="6236280" y="44258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1" name=""/>
          <p:cNvPicPr/>
          <p:nvPr/>
        </p:nvPicPr>
        <p:blipFill>
          <a:blip r:embed="rId1"/>
          <a:stretch/>
        </p:blipFill>
        <p:spPr>
          <a:xfrm>
            <a:off x="1296000" y="958320"/>
            <a:ext cx="6804000" cy="4033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Shape 35"/>
          <p:cNvSpPr/>
          <p:nvPr/>
        </p:nvSpPr>
        <p:spPr>
          <a:xfrm>
            <a:off x="0" y="0"/>
            <a:ext cx="9142560" cy="821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40"/>
          <p:cNvSpPr/>
          <p:nvPr/>
        </p:nvSpPr>
        <p:spPr>
          <a:xfrm>
            <a:off x="457200" y="13716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CERTIFICATE OF PUBLICATION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37"/>
          <p:cNvSpPr/>
          <p:nvPr/>
        </p:nvSpPr>
        <p:spPr>
          <a:xfrm>
            <a:off x="1080000" y="896760"/>
            <a:ext cx="7200000" cy="4124520"/>
          </a:xfrm>
          <a:prstGeom prst="roundRect">
            <a:avLst>
              <a:gd name="adj" fmla="val 4762"/>
            </a:avLst>
          </a:prstGeom>
          <a:solidFill>
            <a:srgbClr val="0F2642"/>
          </a:solidFill>
          <a:ln w="12700">
            <a:solidFill>
              <a:srgbClr val="0E7490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42"/>
          <p:cNvSpPr/>
          <p:nvPr/>
        </p:nvSpPr>
        <p:spPr>
          <a:xfrm>
            <a:off x="338400" y="141732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60"/>
          <p:cNvSpPr/>
          <p:nvPr/>
        </p:nvSpPr>
        <p:spPr>
          <a:xfrm>
            <a:off x="6282000" y="141732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62"/>
          <p:cNvSpPr/>
          <p:nvPr/>
        </p:nvSpPr>
        <p:spPr>
          <a:xfrm>
            <a:off x="6236280" y="234072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64"/>
          <p:cNvSpPr/>
          <p:nvPr/>
        </p:nvSpPr>
        <p:spPr>
          <a:xfrm>
            <a:off x="3384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66"/>
          <p:cNvSpPr/>
          <p:nvPr/>
        </p:nvSpPr>
        <p:spPr>
          <a:xfrm>
            <a:off x="292680" y="4663440"/>
            <a:ext cx="25772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68"/>
          <p:cNvSpPr/>
          <p:nvPr/>
        </p:nvSpPr>
        <p:spPr>
          <a:xfrm>
            <a:off x="33102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70"/>
          <p:cNvSpPr/>
          <p:nvPr/>
        </p:nvSpPr>
        <p:spPr>
          <a:xfrm>
            <a:off x="3264480" y="44258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72"/>
          <p:cNvSpPr/>
          <p:nvPr/>
        </p:nvSpPr>
        <p:spPr>
          <a:xfrm>
            <a:off x="6282000" y="3502080"/>
            <a:ext cx="2485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74"/>
          <p:cNvSpPr/>
          <p:nvPr/>
        </p:nvSpPr>
        <p:spPr>
          <a:xfrm>
            <a:off x="6236280" y="4425840"/>
            <a:ext cx="2577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4" name=""/>
          <p:cNvPicPr/>
          <p:nvPr/>
        </p:nvPicPr>
        <p:blipFill>
          <a:blip r:embed="rId1"/>
          <a:stretch/>
        </p:blipFill>
        <p:spPr>
          <a:xfrm>
            <a:off x="1260000" y="936000"/>
            <a:ext cx="6840000" cy="402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Text 2"/>
          <p:cNvSpPr/>
          <p:nvPr/>
        </p:nvSpPr>
        <p:spPr>
          <a:xfrm>
            <a:off x="457200" y="1097280"/>
            <a:ext cx="822816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Thank You</a:t>
            </a:r>
            <a:endParaRPr lang="en-IN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3"/>
          <p:cNvSpPr/>
          <p:nvPr/>
        </p:nvSpPr>
        <p:spPr>
          <a:xfrm>
            <a:off x="2743200" y="2468880"/>
            <a:ext cx="3656160" cy="44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4"/>
          <p:cNvSpPr/>
          <p:nvPr/>
        </p:nvSpPr>
        <p:spPr>
          <a:xfrm>
            <a:off x="457200" y="2633400"/>
            <a:ext cx="822816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7DD3FC"/>
                </a:solidFill>
                <a:effectLst/>
                <a:uFillTx/>
                <a:latin typeface="Calibri"/>
                <a:ea typeface="Calibri"/>
              </a:rPr>
              <a:t>   Hybrid Security Framework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7DD3FC"/>
                </a:solidFill>
                <a:effectLst/>
                <a:uFillTx/>
                <a:latin typeface="Calibri"/>
                <a:ea typeface="Calibri"/>
              </a:rPr>
              <a:t>Integrating Firewall and VPN Technologies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5"/>
          <p:cNvSpPr/>
          <p:nvPr/>
        </p:nvSpPr>
        <p:spPr>
          <a:xfrm>
            <a:off x="457200" y="3566160"/>
            <a:ext cx="82281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7"/>
          <p:cNvSpPr/>
          <p:nvPr/>
        </p:nvSpPr>
        <p:spPr>
          <a:xfrm>
            <a:off x="2286000" y="4169520"/>
            <a:ext cx="457056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Application>LibreOffice/26.2.1.2$Linux_X86_64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2026-06-14T13:10:48Z</dcterms:created>
  <dc:creator>PptxGenJS</dc:creator>
  <dc:description/>
  <dc:language>en-IN</dc:language>
  <cp:lastModifiedBy/>
  <dcterms:modified xsi:type="dcterms:W3CDTF">2026-06-18T09:07:29Z</dcterms:modified>
  <cp:revision>12</cp:revision>
  <dc:subject>PptxGenJS Presentation</dc:subject>
  <dc:title>SunduVault – Hybrid Security Framework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